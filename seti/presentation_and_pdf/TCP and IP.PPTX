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59" r:id="rId5"/>
    <p:sldId id="262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8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7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2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0258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052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808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538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89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888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53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699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7D265-D95B-40B4-BB96-ED200D91C544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AFB87-15AD-4080-B655-50BC1020CA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5743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0570" y="2039815"/>
            <a:ext cx="9144000" cy="1112715"/>
          </a:xfrm>
        </p:spPr>
        <p:txBody>
          <a:bodyPr>
            <a:normAutofit/>
          </a:bodyPr>
          <a:lstStyle/>
          <a:p>
            <a:r>
              <a:rPr lang="ru-RU" sz="7200" b="1" dirty="0"/>
              <a:t>Модель </a:t>
            </a:r>
            <a:r>
              <a:rPr lang="en-US" sz="7200" b="1" dirty="0"/>
              <a:t>TCP / IP</a:t>
            </a:r>
            <a:endParaRPr lang="ru-RU" sz="72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sz="3600" dirty="0" err="1" smtClean="0">
                <a:solidFill>
                  <a:schemeClr val="bg2">
                    <a:lumMod val="25000"/>
                  </a:schemeClr>
                </a:solidFill>
              </a:rPr>
              <a:t>Лехман</a:t>
            </a:r>
            <a:r>
              <a:rPr lang="ru-RU" sz="3600" dirty="0" smtClean="0">
                <a:solidFill>
                  <a:schemeClr val="bg2">
                    <a:lumMod val="25000"/>
                  </a:schemeClr>
                </a:solidFill>
              </a:rPr>
              <a:t> М.</a:t>
            </a:r>
            <a:br>
              <a:rPr lang="ru-RU" sz="3600" dirty="0" smtClean="0">
                <a:solidFill>
                  <a:schemeClr val="bg2">
                    <a:lumMod val="25000"/>
                  </a:schemeClr>
                </a:solidFill>
              </a:rPr>
            </a:br>
            <a:r>
              <a:rPr lang="ru-RU" sz="3600" dirty="0" smtClean="0">
                <a:solidFill>
                  <a:schemeClr val="bg2">
                    <a:lumMod val="25000"/>
                  </a:schemeClr>
                </a:solidFill>
              </a:rPr>
              <a:t>ИПо9581</a:t>
            </a:r>
            <a:endParaRPr lang="ru-RU" sz="36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750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0807" y="0"/>
            <a:ext cx="10515600" cy="1325563"/>
          </a:xfrm>
        </p:spPr>
        <p:txBody>
          <a:bodyPr/>
          <a:lstStyle/>
          <a:p>
            <a:pPr algn="ctr"/>
            <a:r>
              <a:rPr lang="ru-RU" b="1" dirty="0"/>
              <a:t>Что такое модель </a:t>
            </a:r>
            <a:r>
              <a:rPr lang="en-US" b="1" dirty="0" smtClean="0"/>
              <a:t>TCP/IP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21069"/>
            <a:ext cx="10515600" cy="495886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Стек протоколов TCP/IP (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Transmission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Control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 err="1" smtClean="0">
                <a:solidFill>
                  <a:schemeClr val="accent1">
                    <a:lumMod val="50000"/>
                  </a:schemeClr>
                </a:solidFill>
              </a:rPr>
              <a:t>Protocol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 smtClean="0"/>
              <a:t>/ </a:t>
            </a:r>
            <a:r>
              <a:rPr lang="ru-RU" dirty="0" err="1" smtClean="0">
                <a:solidFill>
                  <a:schemeClr val="accent1">
                    <a:lumMod val="50000"/>
                  </a:schemeClr>
                </a:solidFill>
              </a:rPr>
              <a:t>Internet</a:t>
            </a:r>
            <a:r>
              <a:rPr lang="ru-RU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Protocol</a:t>
            </a:r>
            <a:r>
              <a:rPr lang="ru-RU" dirty="0"/>
              <a:t>) — это сетевая модель, описывающая процесс передачи цифровых данных. </a:t>
            </a:r>
            <a:endParaRPr lang="ru-RU" dirty="0" smtClean="0"/>
          </a:p>
          <a:p>
            <a:pPr marL="0" indent="0">
              <a:buNone/>
            </a:pP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Она </a:t>
            </a:r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является основой работы глобальной сети </a:t>
            </a:r>
            <a:r>
              <a:rPr lang="ru-RU" dirty="0" smtClean="0">
                <a:solidFill>
                  <a:schemeClr val="bg2">
                    <a:lumMod val="50000"/>
                  </a:schemeClr>
                </a:solidFill>
              </a:rPr>
              <a:t>Интернет</a:t>
            </a:r>
            <a:endParaRPr lang="en-US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endParaRPr lang="ru-RU" dirty="0" smtClean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smtClean="0"/>
              <a:t>	TCP</a:t>
            </a:r>
            <a:r>
              <a:rPr lang="ru-RU" b="1" dirty="0" smtClean="0"/>
              <a:t> - </a:t>
            </a:r>
            <a:r>
              <a:rPr lang="ru-RU" dirty="0" smtClean="0"/>
              <a:t>отвечает </a:t>
            </a:r>
            <a:r>
              <a:rPr lang="ru-RU" dirty="0"/>
              <a:t>за передачу </a:t>
            </a:r>
            <a:r>
              <a:rPr lang="ru-RU" dirty="0" smtClean="0"/>
              <a:t>данных</a:t>
            </a:r>
          </a:p>
          <a:p>
            <a:pPr marL="0" indent="0">
              <a:buNone/>
            </a:pPr>
            <a:r>
              <a:rPr lang="en-US" b="1" dirty="0" smtClean="0"/>
              <a:t>	IP</a:t>
            </a:r>
            <a:r>
              <a:rPr lang="en-US" dirty="0" smtClean="0"/>
              <a:t> - </a:t>
            </a:r>
            <a:r>
              <a:rPr lang="ru-RU" dirty="0"/>
              <a:t>протокол </a:t>
            </a:r>
            <a:r>
              <a:rPr lang="ru-RU" dirty="0" smtClean="0"/>
              <a:t>Интернет</a:t>
            </a:r>
            <a:endParaRPr lang="en-US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ru-RU" dirty="0" smtClean="0"/>
              <a:t>Изначально </a:t>
            </a:r>
            <a:r>
              <a:rPr lang="ru-RU" dirty="0"/>
              <a:t>TCP/IP разрабатывался для сети ARPANET — прообраза интернета, </a:t>
            </a:r>
            <a:r>
              <a:rPr lang="ru-RU" dirty="0" smtClean="0"/>
              <a:t>Чтобы обеспечить </a:t>
            </a:r>
            <a:r>
              <a:rPr lang="ru-RU" dirty="0"/>
              <a:t>связь между разнородными сетями и компьютерами.</a:t>
            </a:r>
            <a:endParaRPr lang="ru-RU" b="1" dirty="0" smtClean="0"/>
          </a:p>
          <a:p>
            <a:pPr marL="0" indent="0">
              <a:buNone/>
            </a:pPr>
            <a:endParaRPr lang="ru-RU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05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5108" y="0"/>
            <a:ext cx="10515600" cy="1325563"/>
          </a:xfrm>
        </p:spPr>
        <p:txBody>
          <a:bodyPr/>
          <a:lstStyle/>
          <a:p>
            <a:r>
              <a:rPr lang="ru-RU" b="1" dirty="0"/>
              <a:t>Принцип </a:t>
            </a:r>
            <a:r>
              <a:rPr lang="ru-RU" b="1" dirty="0" smtClean="0"/>
              <a:t>работы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055077"/>
            <a:ext cx="10515600" cy="4787779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Протоколы работают совместно: </a:t>
            </a:r>
            <a:r>
              <a:rPr lang="ru-RU" b="1" dirty="0"/>
              <a:t>IP прокладывает маршрут</a:t>
            </a:r>
            <a:r>
              <a:rPr lang="ru-RU" dirty="0"/>
              <a:t>, а </a:t>
            </a:r>
            <a:r>
              <a:rPr lang="ru-RU" b="1" dirty="0"/>
              <a:t>TCP следит за корректностью отправки</a:t>
            </a:r>
            <a:r>
              <a:rPr lang="ru-RU" dirty="0"/>
              <a:t>. Например, при передаче потокового видео</a:t>
            </a:r>
            <a:r>
              <a:rPr lang="ru-RU" dirty="0" smtClean="0"/>
              <a:t>:</a:t>
            </a:r>
            <a:endParaRPr lang="en-US" dirty="0" smtClean="0"/>
          </a:p>
          <a:p>
            <a:pPr marL="0" indent="0">
              <a:buNone/>
            </a:pPr>
            <a:r>
              <a:rPr lang="en-US" sz="2400" b="1" dirty="0" smtClean="0"/>
              <a:t>1)</a:t>
            </a:r>
            <a:r>
              <a:rPr lang="en-US" sz="2400" dirty="0" smtClean="0"/>
              <a:t> </a:t>
            </a:r>
            <a:r>
              <a:rPr lang="ru-RU" sz="2400" dirty="0" smtClean="0"/>
              <a:t>Пользователь </a:t>
            </a:r>
            <a:r>
              <a:rPr lang="ru-RU" sz="2400" dirty="0"/>
              <a:t>нажимает кнопку воспроизведения на сайте, и его устройство устанавливает соединение с сервером по назначенным </a:t>
            </a:r>
            <a:r>
              <a:rPr lang="ru-RU" sz="2400" dirty="0" smtClean="0"/>
              <a:t>IP-адресам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en-US" sz="2400" b="1" dirty="0" smtClean="0"/>
              <a:t>2) </a:t>
            </a:r>
            <a:r>
              <a:rPr lang="ru-RU" sz="2400" dirty="0" smtClean="0"/>
              <a:t>Сервер </a:t>
            </a:r>
            <a:r>
              <a:rPr lang="ru-RU" sz="2400" dirty="0"/>
              <a:t>разбивает видео на тысячи маленьких пакетов с помощью TCP. Каждому пакету присваивается порядковый номер и заголовок с IP-адресами отправителя и получателя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en-US" sz="2400" b="1" dirty="0" smtClean="0"/>
              <a:t>3) </a:t>
            </a:r>
            <a:r>
              <a:rPr lang="ru-RU" sz="2400" dirty="0" smtClean="0"/>
              <a:t>Пакеты </a:t>
            </a:r>
            <a:r>
              <a:rPr lang="ru-RU" sz="2400" dirty="0"/>
              <a:t>отправляются в сеть и идут разными маршрутами, которые определяет IP-протокол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en-US" sz="2400" b="1" dirty="0" smtClean="0"/>
              <a:t>4) </a:t>
            </a:r>
            <a:r>
              <a:rPr lang="ru-RU" sz="2400" dirty="0" smtClean="0"/>
              <a:t>Если </a:t>
            </a:r>
            <a:r>
              <a:rPr lang="ru-RU" sz="2400" dirty="0"/>
              <a:t>какие-то пакеты потерялись, то TCP запрашивает их повторную отправку. Если они </a:t>
            </a:r>
            <a:r>
              <a:rPr lang="ru-RU" sz="2400" dirty="0" smtClean="0"/>
              <a:t>пришли </a:t>
            </a:r>
            <a:r>
              <a:rPr lang="ru-RU" sz="2400" dirty="0"/>
              <a:t>не по порядку, то расставляет их в правильной последовательности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en-US" sz="2400" b="1" dirty="0" smtClean="0"/>
              <a:t>5) </a:t>
            </a:r>
            <a:r>
              <a:rPr lang="ru-RU" sz="2400" dirty="0" smtClean="0"/>
              <a:t>На </a:t>
            </a:r>
            <a:r>
              <a:rPr lang="ru-RU" sz="2400" dirty="0"/>
              <a:t>устройстве пользователя начинается воспроизведение видео</a:t>
            </a:r>
            <a:r>
              <a:rPr lang="ru-RU" sz="2400" dirty="0" smtClean="0"/>
              <a:t>.</a:t>
            </a:r>
            <a:endParaRPr lang="en-US" sz="2400" dirty="0" smtClean="0"/>
          </a:p>
        </p:txBody>
      </p:sp>
      <p:sp>
        <p:nvSpPr>
          <p:cNvPr id="4" name="Прямоугольник 3"/>
          <p:cNvSpPr/>
          <p:nvPr/>
        </p:nvSpPr>
        <p:spPr>
          <a:xfrm>
            <a:off x="422031" y="6008811"/>
            <a:ext cx="115530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YS Text"/>
              </a:rPr>
              <a:t>архитектура </a:t>
            </a:r>
            <a:r>
              <a:rPr lang="en-US" sz="12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YS Text"/>
              </a:rPr>
              <a:t>TCP/IP </a:t>
            </a:r>
            <a:r>
              <a:rPr lang="ru-RU" sz="12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YS Text"/>
              </a:rPr>
              <a:t>описана в стандарте </a:t>
            </a:r>
            <a:r>
              <a:rPr lang="en-US" sz="1200" b="1" i="0" dirty="0" smtClean="0">
                <a:solidFill>
                  <a:schemeClr val="bg2">
                    <a:lumMod val="25000"/>
                  </a:schemeClr>
                </a:solidFill>
                <a:effectLst/>
                <a:latin typeface="YS Text"/>
              </a:rPr>
              <a:t>RFC 1122</a:t>
            </a:r>
            <a:r>
              <a:rPr lang="en-US" sz="12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YS Text"/>
              </a:rPr>
              <a:t> (Requirements for Internet Hosts — Communication Layers). </a:t>
            </a:r>
            <a:r>
              <a:rPr lang="ru-RU" sz="12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YS Text"/>
              </a:rPr>
              <a:t>Это один из многих технических документов </a:t>
            </a:r>
            <a:r>
              <a:rPr lang="en-US" sz="12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YS Text"/>
              </a:rPr>
              <a:t>IETF, </a:t>
            </a:r>
            <a:r>
              <a:rPr lang="ru-RU" sz="1200" b="0" i="0" dirty="0" smtClean="0">
                <a:solidFill>
                  <a:schemeClr val="bg2">
                    <a:lumMod val="25000"/>
                  </a:schemeClr>
                </a:solidFill>
                <a:effectLst/>
                <a:latin typeface="YS Text"/>
              </a:rPr>
              <a:t>которые регулируют работу интернета.</a:t>
            </a:r>
            <a:endParaRPr lang="ru-RU" sz="12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122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Сравнение с моделью </a:t>
            </a:r>
            <a:r>
              <a:rPr lang="en-US" b="1" dirty="0" smtClean="0"/>
              <a:t>OSI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842238"/>
            <a:ext cx="10515600" cy="2831123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pPr lvl="1"/>
            <a:r>
              <a:rPr lang="en-US" b="1" dirty="0" smtClean="0"/>
              <a:t>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</a:rPr>
              <a:t>Прикладной</a:t>
            </a:r>
            <a:r>
              <a:rPr lang="ru-RU" b="1" dirty="0" smtClean="0"/>
              <a:t> </a:t>
            </a:r>
            <a:r>
              <a:rPr lang="ru-RU" b="1" dirty="0"/>
              <a:t>(TCP/IP)</a:t>
            </a:r>
            <a:r>
              <a:rPr lang="ru-RU" dirty="0"/>
              <a:t> = Прикладной + Представления + Сеансовый (OSI) .</a:t>
            </a:r>
          </a:p>
          <a:p>
            <a:pPr lvl="1"/>
            <a:r>
              <a:rPr lang="en-US" b="1" dirty="0" smtClean="0"/>
              <a:t> </a:t>
            </a:r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</a:rPr>
              <a:t>Транспортный</a:t>
            </a:r>
            <a:r>
              <a:rPr lang="ru-RU" dirty="0"/>
              <a:t> совпадает.</a:t>
            </a:r>
          </a:p>
          <a:p>
            <a:pPr lvl="1"/>
            <a:r>
              <a:rPr lang="en-US" b="1" dirty="0" smtClean="0"/>
              <a:t> 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Межсетевой</a:t>
            </a:r>
            <a:r>
              <a:rPr lang="ru-RU" b="1" dirty="0" smtClean="0"/>
              <a:t> </a:t>
            </a:r>
            <a:r>
              <a:rPr lang="ru-RU" b="1" dirty="0"/>
              <a:t>(TCP/IP)</a:t>
            </a:r>
            <a:r>
              <a:rPr lang="ru-RU" dirty="0"/>
              <a:t> = Сетевой (OSI).</a:t>
            </a:r>
          </a:p>
          <a:p>
            <a:pPr lvl="1"/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ru-RU" b="1" dirty="0" smtClean="0">
                <a:solidFill>
                  <a:srgbClr val="C00000"/>
                </a:solidFill>
              </a:rPr>
              <a:t>Канальный</a:t>
            </a:r>
            <a:r>
              <a:rPr lang="ru-RU" b="1" dirty="0" smtClean="0"/>
              <a:t> </a:t>
            </a:r>
            <a:r>
              <a:rPr lang="ru-RU" b="1" dirty="0"/>
              <a:t>(TCP/IP)</a:t>
            </a:r>
            <a:r>
              <a:rPr lang="ru-RU" dirty="0"/>
              <a:t> = Канальный + Физический (OSI) .</a:t>
            </a:r>
          </a:p>
          <a:p>
            <a:pPr marL="0" indent="0">
              <a:buNone/>
            </a:pPr>
            <a:r>
              <a:rPr lang="ru-RU" dirty="0" smtClean="0"/>
              <a:t>Модель </a:t>
            </a:r>
            <a:r>
              <a:rPr lang="ru-RU" dirty="0"/>
              <a:t>TCP/IP более практична и отражает реальную структуру современных сетей.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693" y="1314480"/>
            <a:ext cx="7549058" cy="290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7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Уровень 1: </a:t>
            </a:r>
            <a:r>
              <a:rPr lang="ru-RU" b="1" dirty="0" smtClean="0">
                <a:solidFill>
                  <a:srgbClr val="C00000"/>
                </a:solidFill>
              </a:rPr>
              <a:t>Канальный</a:t>
            </a:r>
            <a:br>
              <a:rPr lang="ru-RU" b="1" dirty="0" smtClean="0">
                <a:solidFill>
                  <a:srgbClr val="C00000"/>
                </a:solidFill>
              </a:rPr>
            </a:br>
            <a:r>
              <a:rPr lang="ru-RU" b="1" dirty="0" smtClean="0"/>
              <a:t>(</a:t>
            </a:r>
            <a:r>
              <a:rPr lang="ru-RU" b="1" dirty="0" err="1" smtClean="0"/>
              <a:t>Network</a:t>
            </a:r>
            <a:r>
              <a:rPr lang="ru-RU" b="1" dirty="0"/>
              <a:t> </a:t>
            </a:r>
            <a:r>
              <a:rPr lang="ru-RU" b="1" dirty="0" err="1" smtClean="0"/>
              <a:t>Interface</a:t>
            </a:r>
            <a:r>
              <a:rPr lang="ru-RU" b="1" dirty="0" smtClean="0"/>
              <a:t>/</a:t>
            </a:r>
            <a:r>
              <a:rPr lang="ru-RU" b="1" dirty="0" err="1" smtClean="0"/>
              <a:t>Link</a:t>
            </a:r>
            <a:r>
              <a:rPr lang="ru-RU" b="1" dirty="0" smtClean="0"/>
              <a:t>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41485" y="169068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Описывает</a:t>
            </a:r>
            <a:r>
              <a:rPr lang="ru-RU" dirty="0"/>
              <a:t>, как происходит обмен данными на </a:t>
            </a:r>
            <a:r>
              <a:rPr lang="ru-RU" dirty="0">
                <a:solidFill>
                  <a:srgbClr val="C00000"/>
                </a:solidFill>
              </a:rPr>
              <a:t>физическом</a:t>
            </a:r>
            <a:r>
              <a:rPr lang="ru-RU" dirty="0"/>
              <a:t> уровне между устройствами в одной сети (сегменте) </a:t>
            </a:r>
            <a:r>
              <a:rPr lang="ru-RU" dirty="0" smtClean="0"/>
              <a:t>.</a:t>
            </a:r>
            <a:endParaRPr lang="en-US" dirty="0" smtClean="0"/>
          </a:p>
          <a:p>
            <a:endParaRPr lang="ru-RU" dirty="0"/>
          </a:p>
          <a:p>
            <a:pPr marL="0" indent="0">
              <a:buNone/>
            </a:pPr>
            <a:r>
              <a:rPr lang="ru-RU" b="1" dirty="0"/>
              <a:t>Функции:</a:t>
            </a:r>
            <a:endParaRPr lang="ru-RU" dirty="0"/>
          </a:p>
          <a:p>
            <a:pPr lvl="1"/>
            <a:r>
              <a:rPr lang="ru-RU" dirty="0"/>
              <a:t>Управляет физической передачей сигналов (по кабелю, радиоэфиру) .</a:t>
            </a:r>
          </a:p>
          <a:p>
            <a:pPr lvl="1"/>
            <a:r>
              <a:rPr lang="ru-RU" dirty="0"/>
              <a:t>Преобразует данные в биты и обратно.</a:t>
            </a:r>
          </a:p>
          <a:p>
            <a:pPr lvl="1"/>
            <a:r>
              <a:rPr lang="ru-RU" dirty="0"/>
              <a:t>Отвечает за адресацию устройств внутри локальной </a:t>
            </a:r>
            <a:r>
              <a:rPr lang="ru-RU" dirty="0" smtClean="0"/>
              <a:t>сети.</a:t>
            </a:r>
            <a:endParaRPr lang="en-US" dirty="0" smtClean="0"/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ru-RU" b="1" dirty="0"/>
              <a:t>Протоколы и технологии:</a:t>
            </a:r>
            <a:r>
              <a:rPr lang="ru-RU" dirty="0"/>
              <a:t> </a:t>
            </a:r>
            <a:r>
              <a:rPr lang="ru-RU" dirty="0" err="1"/>
              <a:t>Ethernet</a:t>
            </a:r>
            <a:r>
              <a:rPr lang="ru-RU" dirty="0"/>
              <a:t>, </a:t>
            </a:r>
            <a:r>
              <a:rPr lang="ru-RU" dirty="0" err="1"/>
              <a:t>Wi-Fi</a:t>
            </a:r>
            <a:r>
              <a:rPr lang="ru-RU" dirty="0"/>
              <a:t> (IEEE 802.11), DSL 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sz="1500" b="1" i="0" dirty="0" smtClean="0">
                <a:effectLst/>
                <a:latin typeface="YS Text"/>
              </a:rPr>
              <a:t>IEEE 802.11</a:t>
            </a:r>
            <a:r>
              <a:rPr lang="ru-RU" sz="1500" b="0" i="0" dirty="0" smtClean="0">
                <a:solidFill>
                  <a:schemeClr val="bg2">
                    <a:lumMod val="50000"/>
                  </a:schemeClr>
                </a:solidFill>
                <a:effectLst/>
                <a:latin typeface="YS Text"/>
              </a:rPr>
              <a:t> </a:t>
            </a:r>
            <a:r>
              <a:rPr lang="ru-RU" sz="1500" b="0" i="0" dirty="0" smtClean="0">
                <a:effectLst/>
                <a:latin typeface="YS Text"/>
              </a:rPr>
              <a:t>— набор стандартов, разработанных Институтом инженеров электротехники и электроники (IEEE) для беспроводных сетей локальной связи (</a:t>
            </a:r>
            <a:r>
              <a:rPr lang="ru-RU" sz="1500" b="0" i="0" dirty="0" err="1" smtClean="0">
                <a:effectLst/>
                <a:latin typeface="YS Text"/>
              </a:rPr>
              <a:t>Wi-Fi</a:t>
            </a:r>
            <a:r>
              <a:rPr lang="ru-RU" sz="1500" b="0" i="0" dirty="0" smtClean="0">
                <a:effectLst/>
                <a:latin typeface="YS Text"/>
              </a:rPr>
              <a:t>)</a:t>
            </a:r>
            <a:endParaRPr lang="en-US" sz="1500" b="0" i="0" dirty="0" smtClean="0">
              <a:effectLst/>
              <a:latin typeface="YS Text"/>
            </a:endParaRPr>
          </a:p>
          <a:p>
            <a:pPr marL="0" indent="0">
              <a:buNone/>
            </a:pPr>
            <a:r>
              <a:rPr lang="ru-RU" sz="1500" b="1" dirty="0"/>
              <a:t>DSL (</a:t>
            </a:r>
            <a:r>
              <a:rPr lang="ru-RU" sz="1500" b="1" dirty="0" err="1"/>
              <a:t>Digital</a:t>
            </a:r>
            <a:r>
              <a:rPr lang="ru-RU" sz="1500" b="1" dirty="0"/>
              <a:t> </a:t>
            </a:r>
            <a:r>
              <a:rPr lang="ru-RU" sz="1500" b="1" dirty="0" err="1"/>
              <a:t>Subscriber</a:t>
            </a:r>
            <a:r>
              <a:rPr lang="ru-RU" sz="1500" b="1" dirty="0"/>
              <a:t> </a:t>
            </a:r>
            <a:r>
              <a:rPr lang="ru-RU" sz="1500" b="1" dirty="0" err="1"/>
              <a:t>Line</a:t>
            </a:r>
            <a:r>
              <a:rPr lang="ru-RU" sz="1500" b="1" dirty="0"/>
              <a:t> — «цифровая абонентская линия»)</a:t>
            </a:r>
            <a:r>
              <a:rPr lang="ru-RU" sz="1500" dirty="0"/>
              <a:t> — семейство технологий, позволяющих организовать высокоскоростную передачу данных по телефонной витой паре.</a:t>
            </a:r>
            <a:endParaRPr lang="ru-RU" sz="1500" dirty="0" smtClean="0"/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024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Уровень 2: </a:t>
            </a:r>
            <a:r>
              <a:rPr lang="ru-RU" b="1" dirty="0" smtClean="0">
                <a:solidFill>
                  <a:schemeClr val="accent4">
                    <a:lumMod val="75000"/>
                  </a:schemeClr>
                </a:solidFill>
              </a:rPr>
              <a:t>Межсетевой</a:t>
            </a:r>
            <a:r>
              <a:rPr lang="ru-RU" b="1" dirty="0" smtClean="0"/>
              <a:t> (</a:t>
            </a:r>
            <a:r>
              <a:rPr lang="ru-RU" b="1" dirty="0" err="1" smtClean="0"/>
              <a:t>Internet</a:t>
            </a:r>
            <a:r>
              <a:rPr lang="ru-RU" b="1" dirty="0" smtClean="0"/>
              <a:t>)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r>
              <a:rPr lang="ru-RU" dirty="0" smtClean="0"/>
              <a:t>Обеспечивает </a:t>
            </a:r>
            <a:r>
              <a:rPr lang="ru-RU" dirty="0"/>
              <a:t>маршрутизацию пакетов из одной сети в другую. Это основа интернет-взаимодействия .</a:t>
            </a:r>
          </a:p>
          <a:p>
            <a:pPr marL="0" indent="0">
              <a:buNone/>
            </a:pPr>
            <a:r>
              <a:rPr lang="ru-RU" b="1" dirty="0"/>
              <a:t>Ключевой протокол: IP (</a:t>
            </a:r>
            <a:r>
              <a:rPr lang="ru-RU" b="1" dirty="0" err="1"/>
              <a:t>Internet</a:t>
            </a:r>
            <a:r>
              <a:rPr lang="ru-RU" b="1" dirty="0"/>
              <a:t> </a:t>
            </a:r>
            <a:r>
              <a:rPr lang="ru-RU" b="1" dirty="0" err="1"/>
              <a:t>Protocol</a:t>
            </a:r>
            <a:r>
              <a:rPr lang="ru-RU" b="1" dirty="0"/>
              <a:t>).</a:t>
            </a:r>
            <a:r>
              <a:rPr lang="ru-RU" dirty="0"/>
              <a:t> Он определяет логические адреса (</a:t>
            </a:r>
            <a:r>
              <a:rPr lang="ru-RU" b="1" dirty="0"/>
              <a:t>IP-адреса</a:t>
            </a:r>
            <a:r>
              <a:rPr lang="ru-RU" dirty="0"/>
              <a:t>), которые уникальны во всем мире (IPv4, IPv6</a:t>
            </a:r>
            <a:r>
              <a:rPr lang="ru-RU" dirty="0" smtClean="0"/>
              <a:t>).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Принцип работы:</a:t>
            </a:r>
            <a:r>
              <a:rPr lang="ru-RU" dirty="0"/>
              <a:t> Маршрутизаторы на этом уровне смотрят на IP-адрес назначения и решают, куда отправить пакет дальше («куда идти»). Работает по принципу «</a:t>
            </a:r>
            <a:r>
              <a:rPr lang="ru-RU" dirty="0" err="1"/>
              <a:t>best</a:t>
            </a:r>
            <a:r>
              <a:rPr lang="ru-RU" dirty="0"/>
              <a:t> </a:t>
            </a:r>
            <a:r>
              <a:rPr lang="ru-RU" dirty="0" err="1"/>
              <a:t>effort</a:t>
            </a:r>
            <a:r>
              <a:rPr lang="ru-RU" dirty="0"/>
              <a:t>» (максимальное усилие</a:t>
            </a:r>
            <a:r>
              <a:rPr lang="ru-RU" dirty="0" smtClean="0"/>
              <a:t>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468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Уровень 3: </a:t>
            </a:r>
            <a:r>
              <a:rPr lang="ru-RU" b="1" dirty="0" smtClean="0">
                <a:solidFill>
                  <a:schemeClr val="accent6">
                    <a:lumMod val="50000"/>
                  </a:schemeClr>
                </a:solidFill>
              </a:rPr>
              <a:t>Транспортный</a:t>
            </a:r>
            <a:r>
              <a:rPr lang="ru-RU" b="1" dirty="0" smtClean="0"/>
              <a:t> (</a:t>
            </a:r>
            <a:r>
              <a:rPr lang="ru-RU" b="1" dirty="0" err="1" smtClean="0"/>
              <a:t>Transport</a:t>
            </a:r>
            <a:r>
              <a:rPr lang="ru-RU" b="1" dirty="0" smtClean="0"/>
              <a:t>)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 Обеспечивает передачу данных между конкретными приложениями на хостах. Связывает программное обеспечение с сетью .</a:t>
            </a:r>
          </a:p>
          <a:p>
            <a:pPr marL="0" indent="0">
              <a:buNone/>
            </a:pPr>
            <a:r>
              <a:rPr lang="ru-RU" b="1" dirty="0"/>
              <a:t>Два основных протокола :</a:t>
            </a:r>
            <a:endParaRPr lang="ru-RU" dirty="0"/>
          </a:p>
          <a:p>
            <a:pPr lvl="1"/>
            <a:r>
              <a:rPr lang="ru-RU" b="1" dirty="0"/>
              <a:t>TCP (</a:t>
            </a:r>
            <a:r>
              <a:rPr lang="ru-RU" b="1" dirty="0" err="1"/>
              <a:t>Transmission</a:t>
            </a:r>
            <a:r>
              <a:rPr lang="ru-RU" b="1" dirty="0"/>
              <a:t> </a:t>
            </a:r>
            <a:r>
              <a:rPr lang="ru-RU" b="1" dirty="0" err="1"/>
              <a:t>Control</a:t>
            </a:r>
            <a:r>
              <a:rPr lang="ru-RU" b="1" dirty="0"/>
              <a:t> </a:t>
            </a:r>
            <a:r>
              <a:rPr lang="ru-RU" b="1" dirty="0" err="1"/>
              <a:t>Protocol</a:t>
            </a:r>
            <a:r>
              <a:rPr lang="ru-RU" b="1" dirty="0"/>
              <a:t>):</a:t>
            </a:r>
            <a:r>
              <a:rPr lang="ru-RU" dirty="0"/>
              <a:t> Надежный, с установлением соединения. Гарантирует доставку, контролирует порядок пакетов, управляет перегрузкой (примеры: веб-серфинг, почта, файлы</a:t>
            </a:r>
            <a:r>
              <a:rPr lang="ru-RU" dirty="0" smtClean="0"/>
              <a:t>). </a:t>
            </a:r>
            <a:endParaRPr lang="en-US" dirty="0" smtClean="0"/>
          </a:p>
          <a:p>
            <a:pPr lvl="1"/>
            <a:endParaRPr lang="ru-RU" dirty="0"/>
          </a:p>
          <a:p>
            <a:pPr lvl="1"/>
            <a:r>
              <a:rPr lang="ru-RU" b="1" dirty="0"/>
              <a:t>UDP (</a:t>
            </a:r>
            <a:r>
              <a:rPr lang="ru-RU" b="1" dirty="0" err="1"/>
              <a:t>User</a:t>
            </a:r>
            <a:r>
              <a:rPr lang="ru-RU" b="1" dirty="0"/>
              <a:t> </a:t>
            </a:r>
            <a:r>
              <a:rPr lang="ru-RU" b="1" dirty="0" err="1"/>
              <a:t>Datagram</a:t>
            </a:r>
            <a:r>
              <a:rPr lang="ru-RU" b="1" dirty="0"/>
              <a:t> </a:t>
            </a:r>
            <a:r>
              <a:rPr lang="ru-RU" b="1" dirty="0" err="1"/>
              <a:t>Protocol</a:t>
            </a:r>
            <a:r>
              <a:rPr lang="ru-RU" b="1" dirty="0"/>
              <a:t>):</a:t>
            </a:r>
            <a:r>
              <a:rPr lang="ru-RU" dirty="0"/>
              <a:t> Ненадежный, быстрый, без соединения. Не проверяет доставку (примеры: </a:t>
            </a:r>
            <a:r>
              <a:rPr lang="ru-RU" dirty="0" err="1"/>
              <a:t>видеозвонки</a:t>
            </a:r>
            <a:r>
              <a:rPr lang="ru-RU" dirty="0"/>
              <a:t>, онлайн-игры, DNS</a:t>
            </a:r>
            <a:r>
              <a:rPr lang="ru-RU" dirty="0" smtClean="0"/>
              <a:t>).</a:t>
            </a:r>
            <a:endParaRPr lang="en-US" dirty="0" smtClean="0"/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ru-RU" b="1" dirty="0"/>
              <a:t>Порты:</a:t>
            </a:r>
            <a:r>
              <a:rPr lang="ru-RU" dirty="0"/>
              <a:t> </a:t>
            </a:r>
            <a:r>
              <a:rPr lang="en-US" dirty="0"/>
              <a:t> </a:t>
            </a:r>
            <a:r>
              <a:rPr lang="ru-RU" dirty="0" smtClean="0"/>
              <a:t>На </a:t>
            </a:r>
            <a:r>
              <a:rPr lang="ru-RU" dirty="0"/>
              <a:t>этом уровне появляются номера </a:t>
            </a:r>
            <a:r>
              <a:rPr lang="ru-RU" dirty="0" smtClean="0"/>
              <a:t>портов чтобы </a:t>
            </a:r>
            <a:r>
              <a:rPr lang="ru-RU" dirty="0"/>
              <a:t>понять, какому приложению адресованы данные 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48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Уровень 4: </a:t>
            </a:r>
            <a:r>
              <a:rPr lang="ru-RU" b="1" dirty="0" smtClean="0">
                <a:solidFill>
                  <a:schemeClr val="accent1">
                    <a:lumMod val="50000"/>
                  </a:schemeClr>
                </a:solidFill>
              </a:rPr>
              <a:t>Прикладной</a:t>
            </a:r>
            <a:r>
              <a:rPr lang="ru-RU" b="1" dirty="0" smtClean="0"/>
              <a:t> (Application)</a:t>
            </a:r>
            <a:br>
              <a:rPr lang="ru-RU" b="1" dirty="0" smtClean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 Взаимодействие непосредственно с приложениями пользователя .</a:t>
            </a:r>
          </a:p>
          <a:p>
            <a:pPr marL="0" indent="0">
              <a:buNone/>
            </a:pPr>
            <a:r>
              <a:rPr lang="ru-RU" b="1" dirty="0"/>
              <a:t>Функции:</a:t>
            </a:r>
            <a:r>
              <a:rPr lang="ru-RU" dirty="0"/>
              <a:t> Поддержка сеанса связи, преобразование данных, взаимодействие с сетью через API 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b="1" dirty="0" smtClean="0"/>
              <a:t>Протоколы </a:t>
            </a:r>
            <a:r>
              <a:rPr lang="ru-RU" b="1" dirty="0"/>
              <a:t>верхнего уровня</a:t>
            </a:r>
            <a:r>
              <a:rPr lang="ru-RU" b="1" dirty="0" smtClean="0"/>
              <a:t>:</a:t>
            </a:r>
            <a:endParaRPr lang="ru-RU" dirty="0"/>
          </a:p>
          <a:p>
            <a:pPr lvl="1"/>
            <a:r>
              <a:rPr lang="ru-RU" b="1" dirty="0"/>
              <a:t>HTTP/HTTPS</a:t>
            </a:r>
            <a:r>
              <a:rPr lang="ru-RU" dirty="0"/>
              <a:t> — для веб-сайтов.</a:t>
            </a:r>
          </a:p>
          <a:p>
            <a:pPr lvl="1"/>
            <a:r>
              <a:rPr lang="ru-RU" b="1" dirty="0"/>
              <a:t>SMTP, POP3, IMAP</a:t>
            </a:r>
            <a:r>
              <a:rPr lang="ru-RU" dirty="0"/>
              <a:t> — для электронной почты.</a:t>
            </a:r>
          </a:p>
          <a:p>
            <a:pPr lvl="1"/>
            <a:r>
              <a:rPr lang="ru-RU" b="1" dirty="0"/>
              <a:t>FTP</a:t>
            </a:r>
            <a:r>
              <a:rPr lang="ru-RU" dirty="0"/>
              <a:t> — для передачи файлов.</a:t>
            </a:r>
          </a:p>
          <a:p>
            <a:pPr lvl="1"/>
            <a:r>
              <a:rPr lang="ru-RU" b="1" dirty="0"/>
              <a:t>DNS</a:t>
            </a:r>
            <a:r>
              <a:rPr lang="ru-RU" dirty="0"/>
              <a:t> — преобразует доменные имена в IP-адреса 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914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304085"/>
          </a:xfrm>
        </p:spPr>
        <p:txBody>
          <a:bodyPr>
            <a:normAutofit/>
          </a:bodyPr>
          <a:lstStyle/>
          <a:p>
            <a:pPr algn="ctr"/>
            <a:r>
              <a:rPr lang="ru-RU" sz="5400" b="1" dirty="0"/>
              <a:t>Основы коммутации </a:t>
            </a:r>
            <a:r>
              <a:rPr lang="ru-RU" sz="5400" b="1" dirty="0" smtClean="0"/>
              <a:t>пакетов</a:t>
            </a:r>
            <a:endParaRPr lang="ru-RU" sz="5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841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Инкапсуляция данных: Как это </a:t>
            </a:r>
            <a:r>
              <a:rPr lang="ru-RU" b="1" dirty="0" smtClean="0"/>
              <a:t>работает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b="1" dirty="0" smtClean="0"/>
              <a:t>Инкапсуляция</a:t>
            </a:r>
            <a:r>
              <a:rPr lang="ru-RU" dirty="0" smtClean="0"/>
              <a:t> - Процесс</a:t>
            </a:r>
            <a:r>
              <a:rPr lang="ru-RU" dirty="0"/>
              <a:t>, при котором данные, проходя сверху вниз по уровням модели, обрастают служебными заголовками (и иногда трейлерами) .</a:t>
            </a:r>
          </a:p>
          <a:p>
            <a:pPr marL="0" indent="0">
              <a:buNone/>
            </a:pPr>
            <a:r>
              <a:rPr lang="ru-RU" b="1" dirty="0"/>
              <a:t>Схема:</a:t>
            </a:r>
            <a:endParaRPr lang="ru-RU" dirty="0"/>
          </a:p>
          <a:p>
            <a:pPr lvl="1"/>
            <a:r>
              <a:rPr lang="ru-RU" b="1" dirty="0"/>
              <a:t>Данные (Application):</a:t>
            </a:r>
            <a:r>
              <a:rPr lang="ru-RU" dirty="0"/>
              <a:t> Пользовательские данные.</a:t>
            </a:r>
          </a:p>
          <a:p>
            <a:pPr lvl="1"/>
            <a:r>
              <a:rPr lang="ru-RU" b="1" dirty="0"/>
              <a:t>Сегмент/</a:t>
            </a:r>
            <a:r>
              <a:rPr lang="ru-RU" b="1" dirty="0" err="1"/>
              <a:t>Датаграмма</a:t>
            </a:r>
            <a:r>
              <a:rPr lang="ru-RU" b="1" dirty="0"/>
              <a:t> (</a:t>
            </a:r>
            <a:r>
              <a:rPr lang="ru-RU" b="1" dirty="0" err="1"/>
              <a:t>Transport</a:t>
            </a:r>
            <a:r>
              <a:rPr lang="ru-RU" b="1" dirty="0"/>
              <a:t>):</a:t>
            </a:r>
            <a:r>
              <a:rPr lang="ru-RU" dirty="0"/>
              <a:t> Добавляется заголовок с портами.</a:t>
            </a:r>
          </a:p>
          <a:p>
            <a:pPr lvl="1"/>
            <a:r>
              <a:rPr lang="ru-RU" b="1" dirty="0"/>
              <a:t>Пакет (</a:t>
            </a:r>
            <a:r>
              <a:rPr lang="ru-RU" b="1" dirty="0" err="1"/>
              <a:t>Internet</a:t>
            </a:r>
            <a:r>
              <a:rPr lang="ru-RU" b="1" dirty="0"/>
              <a:t>):</a:t>
            </a:r>
            <a:r>
              <a:rPr lang="ru-RU" dirty="0"/>
              <a:t> Добавляется заголовок с IP-адресами.</a:t>
            </a:r>
          </a:p>
          <a:p>
            <a:pPr lvl="1"/>
            <a:r>
              <a:rPr lang="ru-RU" b="1" dirty="0"/>
              <a:t>Кадр (</a:t>
            </a:r>
            <a:r>
              <a:rPr lang="ru-RU" b="1" dirty="0" err="1"/>
              <a:t>Link</a:t>
            </a:r>
            <a:r>
              <a:rPr lang="ru-RU" b="1" dirty="0"/>
              <a:t>):</a:t>
            </a:r>
            <a:r>
              <a:rPr lang="ru-RU" dirty="0"/>
              <a:t> Добавляется заголовок с MAC-адресами и контрольная сумма.</a:t>
            </a:r>
          </a:p>
          <a:p>
            <a:pPr marL="0" indent="0">
              <a:buNone/>
            </a:pPr>
            <a:r>
              <a:rPr lang="ru-RU" b="1" dirty="0"/>
              <a:t>Принцип:</a:t>
            </a:r>
            <a:r>
              <a:rPr lang="ru-RU" dirty="0"/>
              <a:t> Каждый уровень «оборачивает» данные с вышележащего уровня в свой конверт. На принимающей стороне происходит обратный процесс — </a:t>
            </a:r>
            <a:r>
              <a:rPr lang="ru-RU" b="1" dirty="0" err="1" smtClean="0"/>
              <a:t>декапсуляция</a:t>
            </a:r>
            <a:r>
              <a:rPr lang="ru-RU" dirty="0" smtClean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758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Основы коммутации </a:t>
            </a:r>
            <a:r>
              <a:rPr lang="ru-RU" b="1" dirty="0" smtClean="0"/>
              <a:t>пакетов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 smtClean="0"/>
              <a:t>Коммутации пакетов - </a:t>
            </a:r>
            <a:r>
              <a:rPr lang="ru-RU" dirty="0" smtClean="0"/>
              <a:t>Способ </a:t>
            </a:r>
            <a:r>
              <a:rPr lang="ru-RU" dirty="0"/>
              <a:t>передачи данных, при котором сообщение разбивается на небольшие части — </a:t>
            </a:r>
            <a:r>
              <a:rPr lang="ru-RU" b="1" dirty="0"/>
              <a:t>пакеты</a:t>
            </a:r>
            <a:r>
              <a:rPr lang="ru-RU" dirty="0"/>
              <a:t> .</a:t>
            </a:r>
          </a:p>
          <a:p>
            <a:pPr marL="0" indent="0">
              <a:buNone/>
            </a:pPr>
            <a:r>
              <a:rPr lang="ru-RU" b="1" dirty="0"/>
              <a:t>Как это работает:</a:t>
            </a:r>
            <a:endParaRPr lang="ru-RU" dirty="0"/>
          </a:p>
          <a:p>
            <a:pPr lvl="1"/>
            <a:r>
              <a:rPr lang="ru-RU" b="1" dirty="0"/>
              <a:t>Разделение:</a:t>
            </a:r>
            <a:r>
              <a:rPr lang="ru-RU" dirty="0"/>
              <a:t> Отправитель режет файл на куски (пакеты).</a:t>
            </a:r>
          </a:p>
          <a:p>
            <a:pPr lvl="1"/>
            <a:r>
              <a:rPr lang="ru-RU" b="1" dirty="0"/>
              <a:t>Адресация:</a:t>
            </a:r>
            <a:r>
              <a:rPr lang="ru-RU" dirty="0"/>
              <a:t> Каждый пакет получает заголовок (с адресом отправителя/получателя и порядковым номером).</a:t>
            </a:r>
          </a:p>
          <a:p>
            <a:pPr lvl="1"/>
            <a:r>
              <a:rPr lang="ru-RU" b="1" dirty="0"/>
              <a:t>Передача:</a:t>
            </a:r>
            <a:r>
              <a:rPr lang="ru-RU" dirty="0"/>
              <a:t> Пакеты отправляются в сеть</a:t>
            </a:r>
            <a:r>
              <a:rPr lang="ru-RU" dirty="0" smtClean="0"/>
              <a:t>.</a:t>
            </a:r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ru-RU" b="1" dirty="0"/>
              <a:t>П</a:t>
            </a:r>
            <a:r>
              <a:rPr lang="ru-RU" b="1" smtClean="0"/>
              <a:t>ример</a:t>
            </a:r>
            <a:r>
              <a:rPr lang="ru-RU" b="1" dirty="0" smtClean="0"/>
              <a:t>:</a:t>
            </a:r>
            <a:r>
              <a:rPr lang="ru-RU" dirty="0"/>
              <a:t> Отправка книги по частям в разных конвертах. Каждый конверт может идти разным путем, но в итоге все части собираются в книгу у </a:t>
            </a:r>
            <a:r>
              <a:rPr lang="ru-RU" dirty="0" smtClean="0"/>
              <a:t>получателя.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2019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/>
              <a:t>Распределение ресурсов </a:t>
            </a:r>
            <a:r>
              <a:rPr lang="ru-RU" b="1" dirty="0" smtClean="0"/>
              <a:t>сети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Преимущество </a:t>
            </a:r>
            <a:r>
              <a:rPr lang="ru-RU" dirty="0" smtClean="0"/>
              <a:t>Эффективное </a:t>
            </a:r>
            <a:r>
              <a:rPr lang="ru-RU" dirty="0"/>
              <a:t>использование пропускной способности каналов </a:t>
            </a:r>
            <a:r>
              <a:rPr lang="ru-RU" dirty="0" smtClean="0"/>
              <a:t>связи.</a:t>
            </a:r>
            <a:endParaRPr lang="ru-RU" dirty="0"/>
          </a:p>
          <a:p>
            <a:pPr marL="0" indent="0">
              <a:buNone/>
            </a:pPr>
            <a:r>
              <a:rPr lang="ru-RU" b="1" dirty="0"/>
              <a:t>Механизм</a:t>
            </a:r>
            <a:r>
              <a:rPr lang="ru-RU" b="1" dirty="0" smtClean="0"/>
              <a:t>:</a:t>
            </a:r>
            <a:endParaRPr lang="ru-RU" dirty="0"/>
          </a:p>
          <a:p>
            <a:pPr lvl="1"/>
            <a:r>
              <a:rPr lang="ru-RU" dirty="0"/>
              <a:t>Пакеты от разных отправителей перемешиваются в линиях связи (мультиплексирование</a:t>
            </a:r>
            <a:r>
              <a:rPr lang="ru-RU" dirty="0" smtClean="0"/>
              <a:t>).</a:t>
            </a:r>
          </a:p>
          <a:p>
            <a:pPr lvl="1"/>
            <a:endParaRPr lang="ru-RU" dirty="0"/>
          </a:p>
          <a:p>
            <a:pPr lvl="1"/>
            <a:r>
              <a:rPr lang="ru-RU" dirty="0"/>
              <a:t>Если одно приложение временно не отправляет данные, его полоса пропускания автоматически используется другими (статистическое мультиплексирование</a:t>
            </a:r>
            <a:r>
              <a:rPr lang="ru-RU" dirty="0" smtClean="0"/>
              <a:t>).</a:t>
            </a:r>
          </a:p>
          <a:p>
            <a:pPr lvl="1"/>
            <a:endParaRPr lang="ru-RU" dirty="0"/>
          </a:p>
          <a:p>
            <a:pPr lvl="1"/>
            <a:r>
              <a:rPr lang="ru-RU" dirty="0"/>
              <a:t>На узлах (маршрутизаторах) пакеты могут вставать в </a:t>
            </a:r>
            <a:r>
              <a:rPr lang="ru-RU" b="1" dirty="0"/>
              <a:t>очередь (</a:t>
            </a:r>
            <a:r>
              <a:rPr lang="ru-RU" b="1" dirty="0" err="1"/>
              <a:t>buffer</a:t>
            </a:r>
            <a:r>
              <a:rPr lang="ru-RU" b="1" dirty="0"/>
              <a:t>)</a:t>
            </a:r>
            <a:r>
              <a:rPr lang="ru-RU" dirty="0"/>
              <a:t>, ожидая отправки, если канал занят. Это позволяет сглаживать пиковые </a:t>
            </a:r>
            <a:r>
              <a:rPr lang="ru-RU" dirty="0" smtClean="0"/>
              <a:t>нагрузки.</a:t>
            </a:r>
          </a:p>
          <a:p>
            <a:pPr lvl="1"/>
            <a:endParaRPr lang="ru-RU" dirty="0"/>
          </a:p>
          <a:p>
            <a:pPr marL="0" indent="0">
              <a:buNone/>
            </a:pPr>
            <a:r>
              <a:rPr lang="ru-RU" b="1" dirty="0"/>
              <a:t>Недостаток:</a:t>
            </a:r>
            <a:r>
              <a:rPr lang="ru-RU" dirty="0"/>
              <a:t> Возможны задержки </a:t>
            </a:r>
            <a:r>
              <a:rPr lang="ru-RU" dirty="0" smtClean="0"/>
              <a:t>что </a:t>
            </a:r>
            <a:r>
              <a:rPr lang="ru-RU" dirty="0"/>
              <a:t>критично для реального </a:t>
            </a:r>
            <a:r>
              <a:rPr lang="ru-RU" dirty="0" smtClean="0"/>
              <a:t>времени.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97348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2338" y="0"/>
            <a:ext cx="10515600" cy="1178169"/>
          </a:xfrm>
        </p:spPr>
        <p:txBody>
          <a:bodyPr/>
          <a:lstStyle/>
          <a:p>
            <a:pPr algn="ctr"/>
            <a:r>
              <a:rPr lang="ru-RU" b="1" dirty="0" smtClean="0"/>
              <a:t>Итоги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2338" y="1178169"/>
            <a:ext cx="10515600" cy="54776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Итог по модели TCP/IP:</a:t>
            </a:r>
            <a:r>
              <a:rPr lang="ru-RU" dirty="0"/>
              <a:t> Это иерархическая система, где каждый уровень решает свои задачи (адресация, маршрутизация, надежность, представление данных), что упрощает разработку и отладку сетей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Итог по коммутации пакетов:</a:t>
            </a:r>
            <a:r>
              <a:rPr lang="ru-RU" dirty="0"/>
              <a:t> Базовый механизм передачи, который обеспечивает высокую эффективность и живучесть сети за счет динамического распределения ресурсов и возможности выбора альтернативных маршрутов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b="1" dirty="0"/>
              <a:t>Взаимосвязь:</a:t>
            </a:r>
            <a:r>
              <a:rPr lang="ru-RU" dirty="0"/>
              <a:t> Коммутация пакетов — это метод физической/канальной передачи, а </a:t>
            </a:r>
            <a:r>
              <a:rPr lang="ru-RU" b="1" dirty="0"/>
              <a:t>TCP/IP</a:t>
            </a:r>
            <a:r>
              <a:rPr lang="ru-RU" dirty="0"/>
              <a:t> — это архитектура (модель), которая организует эту передачу, добавляя к пакетам логику и управление на разных уровнях</a:t>
            </a:r>
            <a:r>
              <a:rPr lang="ru-RU" dirty="0" smtClean="0"/>
              <a:t>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84534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Спасибо за внимание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0449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227</Words>
  <Application>Microsoft Office PowerPoint</Application>
  <PresentationFormat>Широкоэкранный</PresentationFormat>
  <Paragraphs>98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YS Text</vt:lpstr>
      <vt:lpstr>Тема Office</vt:lpstr>
      <vt:lpstr>Модель TCP / IP</vt:lpstr>
      <vt:lpstr>Что такое модель TCP/IP</vt:lpstr>
      <vt:lpstr>Принцип работы</vt:lpstr>
      <vt:lpstr>Сравнение с моделью OSI</vt:lpstr>
      <vt:lpstr>Уровень 1: Канальный (Network Interface/Link)</vt:lpstr>
      <vt:lpstr>Уровень 2: Межсетевой (Internet) </vt:lpstr>
      <vt:lpstr>Уровень 3: Транспортный (Transport) </vt:lpstr>
      <vt:lpstr>Уровень 4: Прикладной (Application) </vt:lpstr>
      <vt:lpstr>Основы коммутации пакетов</vt:lpstr>
      <vt:lpstr>Инкапсуляция данных: Как это работает</vt:lpstr>
      <vt:lpstr>Основы коммутации пакетов</vt:lpstr>
      <vt:lpstr>Распределение ресурсов сети</vt:lpstr>
      <vt:lpstr>Итоги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Модель TCP / IP</dc:title>
  <dc:creator>Михаил</dc:creator>
  <cp:lastModifiedBy>Михаил</cp:lastModifiedBy>
  <cp:revision>6</cp:revision>
  <dcterms:created xsi:type="dcterms:W3CDTF">2026-02-25T20:16:29Z</dcterms:created>
  <dcterms:modified xsi:type="dcterms:W3CDTF">2026-02-25T20:57:09Z</dcterms:modified>
</cp:coreProperties>
</file>