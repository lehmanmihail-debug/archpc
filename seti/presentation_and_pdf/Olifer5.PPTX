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6" r:id="rId11"/>
    <p:sldId id="267" r:id="rId12"/>
    <p:sldId id="265" r:id="rId13"/>
    <p:sldId id="268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473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16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415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8009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6084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9112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6999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2852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714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199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183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BBF9B-1741-4511-B426-A95F2942AC32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33DF4-1B10-4E41-A4C9-A57A715AC6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848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661746"/>
            <a:ext cx="9144000" cy="1461355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Сетевые характеристики и качество обслуживания (</a:t>
            </a:r>
            <a:r>
              <a:rPr lang="ru-RU" b="1" dirty="0" err="1"/>
              <a:t>QoS</a:t>
            </a:r>
            <a:r>
              <a:rPr lang="ru-RU" b="1" dirty="0" smtClean="0"/>
              <a:t>)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r"/>
            <a:r>
              <a:rPr lang="ru-RU" dirty="0"/>
              <a:t>Выполнил</a:t>
            </a:r>
            <a:r>
              <a:rPr lang="en-US" dirty="0"/>
              <a:t>:</a:t>
            </a:r>
          </a:p>
          <a:p>
            <a:pPr algn="r"/>
            <a:r>
              <a:rPr lang="ru-RU" dirty="0" err="1"/>
              <a:t>Лехман</a:t>
            </a:r>
            <a:r>
              <a:rPr lang="ru-RU" dirty="0"/>
              <a:t> М.</a:t>
            </a:r>
          </a:p>
          <a:p>
            <a:pPr algn="r"/>
            <a:r>
              <a:rPr lang="ru-RU" dirty="0"/>
              <a:t/>
            </a:r>
            <a:br>
              <a:rPr lang="ru-RU" dirty="0"/>
            </a:br>
            <a:r>
              <a:rPr lang="ru-RU" dirty="0"/>
              <a:t>ИПо9581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09297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536330"/>
            <a:ext cx="10515600" cy="59260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4000" b="1" dirty="0" smtClean="0"/>
              <a:t>Эволюция требований к сети:</a:t>
            </a:r>
            <a:endParaRPr lang="en-US" sz="4000" b="1" dirty="0" smtClean="0"/>
          </a:p>
          <a:p>
            <a:r>
              <a:rPr lang="ru-RU" dirty="0"/>
              <a:t>Раньше (80-е гг.) доминировали нетребовательные приложения (почта, копирование файлов), которые работали в режиме </a:t>
            </a:r>
            <a:r>
              <a:rPr lang="ru-RU" b="1" dirty="0"/>
              <a:t>«по мере возможности» (</a:t>
            </a:r>
            <a:r>
              <a:rPr lang="ru-RU" b="1" dirty="0" err="1" smtClean="0"/>
              <a:t>best-effort</a:t>
            </a:r>
            <a:r>
              <a:rPr lang="en-US" b="1" dirty="0" smtClean="0"/>
              <a:t> - </a:t>
            </a:r>
            <a:r>
              <a:rPr lang="ru-RU" b="1" dirty="0"/>
              <a:t>максимальные усилия</a:t>
            </a:r>
            <a:r>
              <a:rPr lang="ru-RU" b="1" dirty="0" smtClean="0"/>
              <a:t>)</a:t>
            </a:r>
            <a:r>
              <a:rPr lang="ru-RU" dirty="0"/>
              <a:t> .</a:t>
            </a:r>
          </a:p>
          <a:p>
            <a:r>
              <a:rPr lang="ru-RU" b="1" dirty="0"/>
              <a:t>Ситуация сейчас:</a:t>
            </a:r>
            <a:r>
              <a:rPr lang="ru-RU" dirty="0"/>
              <a:t> Появление мультимедиа, IP-телефонии и видеоконференций.</a:t>
            </a:r>
          </a:p>
          <a:p>
            <a:r>
              <a:rPr lang="ru-RU" b="1" dirty="0"/>
              <a:t>Проблема:</a:t>
            </a:r>
            <a:r>
              <a:rPr lang="ru-RU" dirty="0"/>
              <a:t> Простое повышение пропускной способности решает проблему только отчасти. Новым приложениям нужны не просто «килобайты в секунду», а </a:t>
            </a:r>
            <a:r>
              <a:rPr lang="ru-RU" b="1" dirty="0"/>
              <a:t>гарантии</a:t>
            </a:r>
            <a:r>
              <a:rPr lang="ru-RU" dirty="0"/>
              <a:t> задержки и стабильности (</a:t>
            </a:r>
            <a:r>
              <a:rPr lang="ru-RU" dirty="0" err="1"/>
              <a:t>QoS</a:t>
            </a:r>
            <a:r>
              <a:rPr lang="ru-RU" dirty="0" smtClean="0"/>
              <a:t>)</a:t>
            </a:r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Современным </a:t>
            </a:r>
            <a:r>
              <a:rPr lang="ru-RU" dirty="0"/>
              <a:t>сетям требуется механизм обеспечения качества обслуживания (</a:t>
            </a:r>
            <a:r>
              <a:rPr lang="ru-RU" dirty="0" err="1"/>
              <a:t>Quality</a:t>
            </a:r>
            <a:r>
              <a:rPr lang="ru-RU" dirty="0"/>
              <a:t>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Service</a:t>
            </a:r>
            <a:r>
              <a:rPr lang="ru-RU" dirty="0"/>
              <a:t>, </a:t>
            </a:r>
            <a:r>
              <a:rPr lang="ru-RU" dirty="0" err="1"/>
              <a:t>QoS</a:t>
            </a:r>
            <a:r>
              <a:rPr lang="ru-RU" dirty="0"/>
              <a:t>)</a:t>
            </a:r>
          </a:p>
          <a:p>
            <a:pPr marL="0" indent="0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4019100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3420208" y="2602523"/>
            <a:ext cx="570620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5400" b="1" dirty="0">
                <a:solidFill>
                  <a:srgbClr val="0F1115"/>
                </a:solidFill>
                <a:latin typeface="quote-cjk-patch"/>
              </a:rPr>
              <a:t>Х</a:t>
            </a:r>
            <a:r>
              <a:rPr lang="ru-RU" sz="5400" b="1" dirty="0" smtClean="0">
                <a:solidFill>
                  <a:srgbClr val="0F1115"/>
                </a:solidFill>
                <a:effectLst/>
                <a:latin typeface="quote-cjk-patch"/>
              </a:rPr>
              <a:t>арактеристики</a:t>
            </a:r>
            <a:endParaRPr lang="ru-RU" sz="5400" b="1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552652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Составляющие</a:t>
            </a:r>
            <a:r>
              <a:rPr lang="ru-RU" b="1" dirty="0"/>
              <a:t> </a:t>
            </a:r>
            <a:r>
              <a:rPr lang="ru-RU" b="1" dirty="0" smtClean="0"/>
              <a:t>задержки</a:t>
            </a:r>
            <a:endParaRPr lang="ru-RU" b="1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8073526"/>
              </p:ext>
            </p:extLst>
          </p:nvPr>
        </p:nvGraphicFramePr>
        <p:xfrm>
          <a:off x="1875691" y="2060246"/>
          <a:ext cx="8440617" cy="4402100"/>
        </p:xfrm>
        <a:graphic>
          <a:graphicData uri="http://schemas.openxmlformats.org/drawingml/2006/table">
            <a:tbl>
              <a:tblPr/>
              <a:tblGrid>
                <a:gridCol w="2813539">
                  <a:extLst>
                    <a:ext uri="{9D8B030D-6E8A-4147-A177-3AD203B41FA5}">
                      <a16:colId xmlns:a16="http://schemas.microsoft.com/office/drawing/2014/main" val="273212345"/>
                    </a:ext>
                  </a:extLst>
                </a:gridCol>
                <a:gridCol w="2813539">
                  <a:extLst>
                    <a:ext uri="{9D8B030D-6E8A-4147-A177-3AD203B41FA5}">
                      <a16:colId xmlns:a16="http://schemas.microsoft.com/office/drawing/2014/main" val="98614195"/>
                    </a:ext>
                  </a:extLst>
                </a:gridCol>
                <a:gridCol w="2813539">
                  <a:extLst>
                    <a:ext uri="{9D8B030D-6E8A-4147-A177-3AD203B41FA5}">
                      <a16:colId xmlns:a16="http://schemas.microsoft.com/office/drawing/2014/main" val="1636797227"/>
                    </a:ext>
                  </a:extLst>
                </a:gridCol>
              </a:tblGrid>
              <a:tr h="553666"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Тип задержки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Характеристика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От чего зависит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05408"/>
                  </a:ext>
                </a:extLst>
              </a:tr>
              <a:tr h="880420">
                <a:tc>
                  <a:txBody>
                    <a:bodyPr/>
                    <a:lstStyle/>
                    <a:p>
                      <a:r>
                        <a:rPr lang="ru-RU" b="1">
                          <a:effectLst/>
                          <a:latin typeface="quote-cjk-patch"/>
                        </a:rPr>
                        <a:t>Время сериализации</a:t>
                      </a:r>
                      <a:endParaRPr lang="ru-RU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Фиксированная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Скорость передачи данных.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741708"/>
                  </a:ext>
                </a:extLst>
              </a:tr>
              <a:tr h="880420">
                <a:tc>
                  <a:txBody>
                    <a:bodyPr/>
                    <a:lstStyle/>
                    <a:p>
                      <a:r>
                        <a:rPr lang="ru-RU" b="1" dirty="0">
                          <a:effectLst/>
                          <a:latin typeface="quote-cjk-patch"/>
                        </a:rPr>
                        <a:t>Время распространения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Фиксированная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Длина кабеля (скорость света).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103573"/>
                  </a:ext>
                </a:extLst>
              </a:tr>
              <a:tr h="1207174">
                <a:tc>
                  <a:txBody>
                    <a:bodyPr/>
                    <a:lstStyle/>
                    <a:p>
                      <a:r>
                        <a:rPr lang="ru-RU" b="1">
                          <a:effectLst/>
                          <a:latin typeface="quote-cjk-patch"/>
                        </a:rPr>
                        <a:t>Время коммутации</a:t>
                      </a:r>
                      <a:endParaRPr lang="ru-RU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Переменная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Быстродействие процессора коммутатора.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7845937"/>
                  </a:ext>
                </a:extLst>
              </a:tr>
              <a:tr h="880420">
                <a:tc>
                  <a:txBody>
                    <a:bodyPr/>
                    <a:lstStyle/>
                    <a:p>
                      <a:r>
                        <a:rPr lang="ru-RU" b="1">
                          <a:effectLst/>
                          <a:latin typeface="quote-cjk-patch"/>
                        </a:rPr>
                        <a:t>Время ожидания в очереди</a:t>
                      </a:r>
                      <a:endParaRPr lang="ru-RU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1">
                          <a:effectLst/>
                          <a:latin typeface="quote-cjk-patch"/>
                        </a:rPr>
                        <a:t>Переменная (основная проблема)</a:t>
                      </a:r>
                      <a:endParaRPr lang="ru-RU" b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Загрузка сети, количество коллизий.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049386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2013438" y="1435656"/>
            <a:ext cx="884506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i="0" dirty="0" smtClean="0">
                <a:solidFill>
                  <a:srgbClr val="0F1115"/>
                </a:solidFill>
                <a:effectLst/>
                <a:latin typeface="quote-cjk-patch"/>
              </a:rPr>
              <a:t>Суммарная задержка складывается из фиксированных и переменных величин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470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584831" cy="1325563"/>
          </a:xfrm>
        </p:spPr>
        <p:txBody>
          <a:bodyPr/>
          <a:lstStyle/>
          <a:p>
            <a:r>
              <a:rPr lang="ru-RU" b="1" dirty="0"/>
              <a:t>Ключевые </a:t>
            </a:r>
            <a:r>
              <a:rPr lang="ru-RU" b="1" dirty="0" smtClean="0"/>
              <a:t>метры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3600" b="1" dirty="0"/>
              <a:t>Скоростные характеристики:</a:t>
            </a:r>
            <a:endParaRPr lang="ru-RU" sz="3600" dirty="0"/>
          </a:p>
          <a:p>
            <a:pPr lvl="1"/>
            <a:r>
              <a:rPr lang="ru-RU" sz="3600" b="1" dirty="0"/>
              <a:t>Средняя скорость </a:t>
            </a:r>
            <a:r>
              <a:rPr lang="ru-RU" sz="3600" b="1" dirty="0" smtClean="0"/>
              <a:t>:</a:t>
            </a:r>
            <a:r>
              <a:rPr lang="ru-RU" sz="3600" dirty="0"/>
              <a:t> Долговременный средний показатель.</a:t>
            </a:r>
          </a:p>
          <a:p>
            <a:pPr lvl="1"/>
            <a:r>
              <a:rPr lang="ru-RU" sz="3600" b="1" dirty="0"/>
              <a:t>Пиковая скорость </a:t>
            </a:r>
            <a:r>
              <a:rPr lang="ru-RU" sz="3600" b="1" dirty="0" smtClean="0"/>
              <a:t>:</a:t>
            </a:r>
            <a:r>
              <a:rPr lang="ru-RU" sz="3600" dirty="0"/>
              <a:t> Максимальная мгновенная скорость.</a:t>
            </a:r>
          </a:p>
          <a:p>
            <a:pPr lvl="1"/>
            <a:r>
              <a:rPr lang="ru-RU" sz="3600" b="1" dirty="0"/>
              <a:t>Пульсация </a:t>
            </a:r>
            <a:r>
              <a:rPr lang="ru-RU" sz="3600" b="1" dirty="0" smtClean="0"/>
              <a:t>:</a:t>
            </a:r>
            <a:r>
              <a:rPr lang="ru-RU" sz="3600" dirty="0"/>
              <a:t> Отношение пиковой скорости к средней (важно для веб-серфинга и файлов).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8813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Чувствительность приложений к </a:t>
            </a:r>
            <a:r>
              <a:rPr lang="ru-RU" b="1" dirty="0" smtClean="0"/>
              <a:t>задержкам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3133505"/>
              </p:ext>
            </p:extLst>
          </p:nvPr>
        </p:nvGraphicFramePr>
        <p:xfrm>
          <a:off x="2628902" y="1825625"/>
          <a:ext cx="7288821" cy="4351338"/>
        </p:xfrm>
        <a:graphic>
          <a:graphicData uri="http://schemas.openxmlformats.org/drawingml/2006/table">
            <a:tbl>
              <a:tblPr/>
              <a:tblGrid>
                <a:gridCol w="2429607">
                  <a:extLst>
                    <a:ext uri="{9D8B030D-6E8A-4147-A177-3AD203B41FA5}">
                      <a16:colId xmlns:a16="http://schemas.microsoft.com/office/drawing/2014/main" val="265940874"/>
                    </a:ext>
                  </a:extLst>
                </a:gridCol>
                <a:gridCol w="2429607">
                  <a:extLst>
                    <a:ext uri="{9D8B030D-6E8A-4147-A177-3AD203B41FA5}">
                      <a16:colId xmlns:a16="http://schemas.microsoft.com/office/drawing/2014/main" val="2538373447"/>
                    </a:ext>
                  </a:extLst>
                </a:gridCol>
                <a:gridCol w="2429607">
                  <a:extLst>
                    <a:ext uri="{9D8B030D-6E8A-4147-A177-3AD203B41FA5}">
                      <a16:colId xmlns:a16="http://schemas.microsoft.com/office/drawing/2014/main" val="3733887250"/>
                    </a:ext>
                  </a:extLst>
                </a:gridCol>
              </a:tblGrid>
              <a:tr h="421990">
                <a:tc>
                  <a:txBody>
                    <a:bodyPr/>
                    <a:lstStyle/>
                    <a:p>
                      <a:pPr algn="l"/>
                      <a:r>
                        <a:rPr lang="ru-RU" sz="1600" b="0">
                          <a:effectLst/>
                          <a:latin typeface="quote-cjk-patch"/>
                        </a:rPr>
                        <a:t>Тип (по задержкам)</a:t>
                      </a:r>
                    </a:p>
                  </a:txBody>
                  <a:tcPr marL="83014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0">
                          <a:effectLst/>
                          <a:latin typeface="quote-cjk-patch"/>
                        </a:rPr>
                        <a:t>Примеры</a:t>
                      </a:r>
                    </a:p>
                  </a:txBody>
                  <a:tcPr marL="138357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0">
                          <a:effectLst/>
                          <a:latin typeface="quote-cjk-patch"/>
                        </a:rPr>
                        <a:t>Требования к сети</a:t>
                      </a:r>
                    </a:p>
                  </a:txBody>
                  <a:tcPr marL="138357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781350"/>
                  </a:ext>
                </a:extLst>
              </a:tr>
              <a:tr h="671033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  <a:latin typeface="quote-cjk-patch"/>
                        </a:rPr>
                        <a:t>Асинхронные</a:t>
                      </a:r>
                      <a:endParaRPr lang="ru-RU" sz="1600" b="0">
                        <a:effectLst/>
                        <a:latin typeface="quote-cjk-patch"/>
                      </a:endParaRPr>
                    </a:p>
                  </a:txBody>
                  <a:tcPr marL="83014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Электронная почта, </a:t>
                      </a:r>
                      <a:r>
                        <a:rPr lang="en-US" sz="1600" b="0">
                          <a:effectLst/>
                          <a:latin typeface="quote-cjk-patch"/>
                        </a:rPr>
                        <a:t>FTP</a:t>
                      </a:r>
                    </a:p>
                  </a:txBody>
                  <a:tcPr marL="138357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Низкие. Терпят паузы в секунды.</a:t>
                      </a:r>
                    </a:p>
                  </a:txBody>
                  <a:tcPr marL="138357" marR="83014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504191"/>
                  </a:ext>
                </a:extLst>
              </a:tr>
              <a:tr h="920076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  <a:latin typeface="quote-cjk-patch"/>
                        </a:rPr>
                        <a:t>Интерактивные</a:t>
                      </a:r>
                      <a:endParaRPr lang="ru-RU" sz="1600" b="0">
                        <a:effectLst/>
                        <a:latin typeface="quote-cjk-patch"/>
                      </a:endParaRPr>
                    </a:p>
                  </a:txBody>
                  <a:tcPr marL="83014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Текстовый редактор (удаленный), </a:t>
                      </a:r>
                      <a:r>
                        <a:rPr lang="en-US" sz="1600" b="0">
                          <a:effectLst/>
                          <a:latin typeface="quote-cjk-patch"/>
                        </a:rPr>
                        <a:t>Telnet</a:t>
                      </a:r>
                    </a:p>
                  </a:txBody>
                  <a:tcPr marL="138357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Средние. Задержка заметна, но не смертельна.</a:t>
                      </a:r>
                    </a:p>
                  </a:txBody>
                  <a:tcPr marL="138357" marR="83014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420025"/>
                  </a:ext>
                </a:extLst>
              </a:tr>
              <a:tr h="1418163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  <a:latin typeface="quote-cjk-patch"/>
                        </a:rPr>
                        <a:t>Изохронные</a:t>
                      </a:r>
                      <a:endParaRPr lang="ru-RU" sz="1600" b="0">
                        <a:effectLst/>
                        <a:latin typeface="quote-cjk-patch"/>
                      </a:endParaRPr>
                    </a:p>
                  </a:txBody>
                  <a:tcPr marL="83014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effectLst/>
                          <a:latin typeface="quote-cjk-patch"/>
                        </a:rPr>
                        <a:t>IP-</a:t>
                      </a:r>
                      <a:r>
                        <a:rPr lang="ru-RU" sz="1600" b="0">
                          <a:effectLst/>
                          <a:latin typeface="quote-cjk-patch"/>
                        </a:rPr>
                        <a:t>телефония, Видеоконференция</a:t>
                      </a:r>
                    </a:p>
                  </a:txBody>
                  <a:tcPr marL="138357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  <a:latin typeface="quote-cjk-patch"/>
                        </a:rPr>
                        <a:t>Жесткие</a:t>
                      </a:r>
                      <a:r>
                        <a:rPr lang="ru-RU" sz="1600" b="0">
                          <a:effectLst/>
                          <a:latin typeface="quote-cjk-patch"/>
                        </a:rPr>
                        <a:t> (менее 150 мс). Превышение порога разрушает связь.</a:t>
                      </a:r>
                    </a:p>
                  </a:txBody>
                  <a:tcPr marL="138357" marR="83014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351650"/>
                  </a:ext>
                </a:extLst>
              </a:tr>
              <a:tr h="920076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  <a:latin typeface="quote-cjk-patch"/>
                        </a:rPr>
                        <a:t>Сверхчувствительные</a:t>
                      </a:r>
                      <a:endParaRPr lang="ru-RU" sz="1600" b="0">
                        <a:effectLst/>
                        <a:latin typeface="quote-cjk-patch"/>
                      </a:endParaRPr>
                    </a:p>
                  </a:txBody>
                  <a:tcPr marL="83014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Управление роботами/транспортом</a:t>
                      </a:r>
                    </a:p>
                  </a:txBody>
                  <a:tcPr marL="138357" marR="138357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Минимальные. Опоздание сигнала = авария.</a:t>
                      </a:r>
                    </a:p>
                  </a:txBody>
                  <a:tcPr marL="138357" marR="83014" marT="86473" marB="86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024052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4681189" y="6311900"/>
            <a:ext cx="2829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0" i="1" dirty="0" smtClean="0">
                <a:solidFill>
                  <a:srgbClr val="0F1115"/>
                </a:solidFill>
                <a:effectLst/>
                <a:latin typeface="quote-cjk-patch"/>
              </a:rPr>
              <a:t>Классификация </a:t>
            </a:r>
            <a:r>
              <a:rPr lang="ru-RU" b="0" i="1" dirty="0" err="1" smtClean="0">
                <a:solidFill>
                  <a:srgbClr val="0F1115"/>
                </a:solidFill>
                <a:effectLst/>
                <a:latin typeface="quote-cjk-patch"/>
              </a:rPr>
              <a:t>Олифер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8462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Чувствительность к потерям </a:t>
            </a:r>
            <a:r>
              <a:rPr lang="ru-RU" b="1" dirty="0" smtClean="0"/>
              <a:t>пакетов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74531" y="185200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Не все данные одинаково критичны к потерям:</a:t>
            </a:r>
          </a:p>
          <a:p>
            <a:pPr marL="0" indent="0">
              <a:buNone/>
            </a:pPr>
            <a:r>
              <a:rPr lang="ru-RU" b="1" dirty="0"/>
              <a:t>Чувствительные (</a:t>
            </a:r>
            <a:r>
              <a:rPr lang="ru-RU" b="1" dirty="0" err="1"/>
              <a:t>Non-elastic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i="1" dirty="0"/>
              <a:t>Тип данных:</a:t>
            </a:r>
            <a:r>
              <a:rPr lang="ru-RU" dirty="0"/>
              <a:t> Архивы, программы, текст, базы данных.</a:t>
            </a:r>
          </a:p>
          <a:p>
            <a:pPr lvl="1"/>
            <a:r>
              <a:rPr lang="ru-RU" i="1" dirty="0"/>
              <a:t>Реакция:</a:t>
            </a:r>
            <a:r>
              <a:rPr lang="ru-RU" dirty="0"/>
              <a:t> Даже потеря одного байта -&gt; Файл бесполезен.</a:t>
            </a:r>
          </a:p>
          <a:p>
            <a:pPr lvl="1"/>
            <a:r>
              <a:rPr lang="ru-RU" i="1" dirty="0"/>
              <a:t>Сервис:</a:t>
            </a:r>
            <a:r>
              <a:rPr lang="ru-RU" dirty="0"/>
              <a:t> Необходима 100% доставка (TCP</a:t>
            </a:r>
            <a:r>
              <a:rPr lang="ru-RU" dirty="0" smtClean="0"/>
              <a:t>).</a:t>
            </a:r>
          </a:p>
          <a:p>
            <a:pPr lvl="1"/>
            <a:endParaRPr lang="ru-RU" dirty="0"/>
          </a:p>
          <a:p>
            <a:pPr marL="0" indent="0">
              <a:buNone/>
            </a:pPr>
            <a:r>
              <a:rPr lang="ru-RU" b="1" dirty="0"/>
              <a:t>Устойчивые (</a:t>
            </a:r>
            <a:r>
              <a:rPr lang="ru-RU" b="1" dirty="0" err="1"/>
              <a:t>Elastic</a:t>
            </a:r>
            <a:r>
              <a:rPr lang="ru-RU" b="1" dirty="0"/>
              <a:t> / </a:t>
            </a:r>
            <a:r>
              <a:rPr lang="ru-RU" b="1" dirty="0" err="1"/>
              <a:t>Loss-Tolerant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i="1" dirty="0"/>
              <a:t>Тип данных:</a:t>
            </a:r>
            <a:r>
              <a:rPr lang="ru-RU" dirty="0"/>
              <a:t> Голос, видео (мультимедиа).</a:t>
            </a:r>
          </a:p>
          <a:p>
            <a:pPr lvl="1"/>
            <a:r>
              <a:rPr lang="ru-RU" i="1" dirty="0"/>
              <a:t>Реакция:</a:t>
            </a:r>
            <a:r>
              <a:rPr lang="ru-RU" dirty="0"/>
              <a:t> Потеря одного пакета может быть скрыта интерполяцией.</a:t>
            </a:r>
          </a:p>
          <a:p>
            <a:pPr lvl="1"/>
            <a:r>
              <a:rPr lang="ru-RU" i="1" dirty="0"/>
              <a:t>Порог:</a:t>
            </a:r>
            <a:r>
              <a:rPr lang="ru-RU" dirty="0"/>
              <a:t> Допустимо до 1-5% потерь (без критического ухудшения качества</a:t>
            </a:r>
            <a:r>
              <a:rPr lang="ru-RU" dirty="0" smtClean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8990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Инструменты </a:t>
            </a:r>
            <a:r>
              <a:rPr lang="en-US" b="1" dirty="0" err="1"/>
              <a:t>QoS</a:t>
            </a:r>
            <a:r>
              <a:rPr lang="en-US" b="1" dirty="0"/>
              <a:t> — </a:t>
            </a:r>
            <a:r>
              <a:rPr lang="ru-RU" b="1" dirty="0"/>
              <a:t>Управление </a:t>
            </a:r>
            <a:r>
              <a:rPr lang="ru-RU" b="1" dirty="0" smtClean="0"/>
              <a:t>очередями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QoS</a:t>
            </a:r>
            <a:r>
              <a:rPr lang="ru-RU" b="1" dirty="0"/>
              <a:t> (</a:t>
            </a:r>
            <a:r>
              <a:rPr lang="ru-RU" b="1" dirty="0" err="1"/>
              <a:t>Quality</a:t>
            </a:r>
            <a:r>
              <a:rPr lang="ru-RU" b="1" dirty="0"/>
              <a:t> </a:t>
            </a:r>
            <a:r>
              <a:rPr lang="ru-RU" b="1" dirty="0" err="1"/>
              <a:t>of</a:t>
            </a:r>
            <a:r>
              <a:rPr lang="ru-RU" b="1" dirty="0"/>
              <a:t> </a:t>
            </a:r>
            <a:r>
              <a:rPr lang="ru-RU" b="1" dirty="0" err="1"/>
              <a:t>Service</a:t>
            </a:r>
            <a:r>
              <a:rPr lang="ru-RU" b="1" dirty="0"/>
              <a:t> — «качество обслуживания»)</a:t>
            </a:r>
            <a:r>
              <a:rPr lang="ru-RU" dirty="0"/>
              <a:t> — это набор технологий для оптимизации сетевого трафика путём назначения приоритетов передачи </a:t>
            </a:r>
            <a:r>
              <a:rPr lang="ru-RU" dirty="0" smtClean="0"/>
              <a:t>данных.</a:t>
            </a:r>
          </a:p>
          <a:p>
            <a:r>
              <a:rPr lang="ru-RU" dirty="0" smtClean="0"/>
              <a:t>Цель </a:t>
            </a:r>
            <a:r>
              <a:rPr lang="ru-RU" dirty="0" err="1"/>
              <a:t>QoS</a:t>
            </a:r>
            <a:r>
              <a:rPr lang="ru-RU" dirty="0"/>
              <a:t> — обеспечить высокий уровень обслуживания для критически важных приложений и типов трафика, даже при ограниченных ресурсах сети</a:t>
            </a:r>
            <a:r>
              <a:rPr lang="ru-RU" dirty="0" smtClean="0"/>
              <a:t>.</a:t>
            </a:r>
          </a:p>
          <a:p>
            <a:endParaRPr lang="ru-RU" dirty="0"/>
          </a:p>
          <a:p>
            <a:pPr marL="0" indent="0">
              <a:buNone/>
            </a:pPr>
            <a:r>
              <a:rPr lang="ru-RU" dirty="0"/>
              <a:t>Когда канал перегружен, маршрутизатор/коммутатор должен решить, какой пакет отбросить, а какой отправить первым</a:t>
            </a:r>
          </a:p>
        </p:txBody>
      </p:sp>
    </p:spTree>
    <p:extLst>
      <p:ext uri="{BB962C8B-B14F-4D97-AF65-F5344CB8AC3E}">
        <p14:creationId xmlns:p14="http://schemas.microsoft.com/office/powerpoint/2010/main" val="4199973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5775" y="517890"/>
            <a:ext cx="8943975" cy="5943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245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368" y="580292"/>
            <a:ext cx="11022623" cy="5596671"/>
          </a:xfrm>
        </p:spPr>
        <p:txBody>
          <a:bodyPr>
            <a:normAutofit lnSpcReduction="10000"/>
          </a:bodyPr>
          <a:lstStyle/>
          <a:p>
            <a:r>
              <a:rPr lang="ru-RU" sz="3200" b="1" dirty="0"/>
              <a:t>FIFO (</a:t>
            </a:r>
            <a:r>
              <a:rPr lang="ru-RU" sz="3200" b="1" dirty="0" err="1"/>
              <a:t>First</a:t>
            </a:r>
            <a:r>
              <a:rPr lang="ru-RU" sz="3200" b="1" dirty="0"/>
              <a:t> </a:t>
            </a:r>
            <a:r>
              <a:rPr lang="ru-RU" sz="3200" b="1" dirty="0" err="1"/>
              <a:t>In</a:t>
            </a:r>
            <a:r>
              <a:rPr lang="ru-RU" sz="3200" b="1" dirty="0"/>
              <a:t>, </a:t>
            </a:r>
            <a:r>
              <a:rPr lang="ru-RU" sz="3200" b="1" dirty="0" err="1"/>
              <a:t>First</a:t>
            </a:r>
            <a:r>
              <a:rPr lang="ru-RU" sz="3200" b="1" dirty="0"/>
              <a:t> </a:t>
            </a:r>
            <a:r>
              <a:rPr lang="ru-RU" sz="3200" b="1" dirty="0" err="1"/>
              <a:t>Out</a:t>
            </a:r>
            <a:r>
              <a:rPr lang="ru-RU" sz="3200" b="1" dirty="0"/>
              <a:t>):</a:t>
            </a:r>
            <a:r>
              <a:rPr lang="ru-RU" sz="3200" dirty="0"/>
              <a:t> Общая очередь. «Кто первым встал — того и отправили». Нет приоритетов</a:t>
            </a:r>
            <a:r>
              <a:rPr lang="ru-RU" sz="3200" dirty="0" smtClean="0"/>
              <a:t>.</a:t>
            </a:r>
          </a:p>
          <a:p>
            <a:endParaRPr lang="ru-RU" sz="3200" dirty="0"/>
          </a:p>
          <a:p>
            <a:r>
              <a:rPr lang="ru-RU" sz="3200" b="1" dirty="0"/>
              <a:t>Приоритетные очереди (PQ):</a:t>
            </a:r>
            <a:endParaRPr lang="ru-RU" sz="3200" dirty="0"/>
          </a:p>
          <a:p>
            <a:pPr lvl="1"/>
            <a:r>
              <a:rPr lang="ru-RU" sz="3200" dirty="0"/>
              <a:t>Есть несколько очередей (Высокая, Средняя, Низкая).</a:t>
            </a:r>
          </a:p>
          <a:p>
            <a:pPr lvl="1"/>
            <a:r>
              <a:rPr lang="ru-RU" sz="3200" i="1" dirty="0"/>
              <a:t>Минус:</a:t>
            </a:r>
            <a:r>
              <a:rPr lang="ru-RU" sz="3200" dirty="0"/>
              <a:t> «Голод» низкоприоритетного трафика</a:t>
            </a:r>
            <a:r>
              <a:rPr lang="ru-RU" sz="3200" dirty="0" smtClean="0"/>
              <a:t>.</a:t>
            </a:r>
          </a:p>
          <a:p>
            <a:pPr lvl="1"/>
            <a:endParaRPr lang="ru-RU" sz="3200" dirty="0"/>
          </a:p>
          <a:p>
            <a:r>
              <a:rPr lang="ru-RU" sz="3200" b="1" dirty="0"/>
              <a:t>Взвешенные очереди (WFQ):</a:t>
            </a:r>
            <a:endParaRPr lang="ru-RU" sz="3200" dirty="0"/>
          </a:p>
          <a:p>
            <a:pPr lvl="1"/>
            <a:r>
              <a:rPr lang="ru-RU" sz="3200" dirty="0"/>
              <a:t>Каждому потоку выделяется доля пропускной способности.</a:t>
            </a:r>
          </a:p>
          <a:p>
            <a:pPr lvl="1"/>
            <a:r>
              <a:rPr lang="ru-RU" sz="3200" i="1" dirty="0"/>
              <a:t>Плюс:</a:t>
            </a:r>
            <a:r>
              <a:rPr lang="ru-RU" sz="3200" dirty="0"/>
              <a:t> Справедливость, предсказуемость.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0346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090638" cy="1325563"/>
          </a:xfrm>
        </p:spPr>
        <p:txBody>
          <a:bodyPr>
            <a:normAutofit/>
          </a:bodyPr>
          <a:lstStyle/>
          <a:p>
            <a:r>
              <a:rPr lang="ru-RU" b="1" dirty="0"/>
              <a:t>Инструменты </a:t>
            </a:r>
            <a:r>
              <a:rPr lang="en-US" b="1" dirty="0" err="1"/>
              <a:t>QoS</a:t>
            </a:r>
            <a:r>
              <a:rPr lang="en-US" b="1" dirty="0"/>
              <a:t> — </a:t>
            </a:r>
            <a:r>
              <a:rPr lang="ru-RU" b="1" dirty="0"/>
              <a:t>Кондиционирование </a:t>
            </a:r>
            <a:r>
              <a:rPr lang="ru-RU" b="1" dirty="0" smtClean="0"/>
              <a:t>трафика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Механизмы ограничения и формирования трафика (</a:t>
            </a:r>
            <a:r>
              <a:rPr lang="en-US" dirty="0"/>
              <a:t>Traffic Policing / Shaping) .</a:t>
            </a:r>
          </a:p>
          <a:p>
            <a:r>
              <a:rPr lang="ru-RU" b="1" dirty="0"/>
              <a:t>Схема «Маркерное ведро» (</a:t>
            </a:r>
            <a:r>
              <a:rPr lang="en-US" b="1" dirty="0"/>
              <a:t>Token Bucket):</a:t>
            </a:r>
            <a:endParaRPr lang="en-US" dirty="0"/>
          </a:p>
          <a:p>
            <a:r>
              <a:rPr lang="ru-RU" dirty="0"/>
              <a:t>Пакеты проходят через «контроллер».</a:t>
            </a:r>
          </a:p>
          <a:p>
            <a:r>
              <a:rPr lang="ru-RU" dirty="0"/>
              <a:t>Если трафик укладывается в оговоренный лимит (</a:t>
            </a:r>
            <a:r>
              <a:rPr lang="en-US" dirty="0"/>
              <a:t>CIR — Committed Information Rate) -&gt; </a:t>
            </a:r>
            <a:r>
              <a:rPr lang="ru-RU" dirty="0"/>
              <a:t>пропускаем.</a:t>
            </a:r>
          </a:p>
          <a:p>
            <a:r>
              <a:rPr lang="ru-RU" dirty="0"/>
              <a:t>Если превышает:</a:t>
            </a:r>
          </a:p>
          <a:p>
            <a:pPr lvl="1"/>
            <a:r>
              <a:rPr lang="en-US" b="1" dirty="0"/>
              <a:t>Policing:</a:t>
            </a:r>
            <a:r>
              <a:rPr lang="en-US" dirty="0"/>
              <a:t> </a:t>
            </a:r>
            <a:r>
              <a:rPr lang="ru-RU" dirty="0"/>
              <a:t>Отбросить лишнее (</a:t>
            </a:r>
            <a:r>
              <a:rPr lang="en-US" dirty="0"/>
              <a:t>Drop).</a:t>
            </a:r>
          </a:p>
          <a:p>
            <a:pPr lvl="1"/>
            <a:r>
              <a:rPr lang="en-US" b="1" dirty="0"/>
              <a:t>Shaping:</a:t>
            </a:r>
            <a:r>
              <a:rPr lang="en-US" dirty="0"/>
              <a:t> </a:t>
            </a:r>
            <a:r>
              <a:rPr lang="ru-RU" dirty="0"/>
              <a:t>Задержать лишнее в буфере (</a:t>
            </a:r>
            <a:r>
              <a:rPr lang="en-US" dirty="0"/>
              <a:t>Buffer).</a:t>
            </a:r>
          </a:p>
          <a:p>
            <a:pPr marL="0" indent="0">
              <a:buNone/>
            </a:pPr>
            <a:r>
              <a:rPr lang="ru-RU" b="1" dirty="0"/>
              <a:t>Зачем:</a:t>
            </a:r>
            <a:r>
              <a:rPr lang="ru-RU" dirty="0"/>
              <a:t> Сглаживание пульсации трафика, чтобы перегружать магистраль.</a:t>
            </a:r>
          </a:p>
        </p:txBody>
      </p:sp>
    </p:spTree>
    <p:extLst>
      <p:ext uri="{BB962C8B-B14F-4D97-AF65-F5344CB8AC3E}">
        <p14:creationId xmlns:p14="http://schemas.microsoft.com/office/powerpoint/2010/main" val="2131951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Архитектуры </a:t>
            </a:r>
            <a:r>
              <a:rPr lang="en-US" b="1" dirty="0" err="1" smtClean="0"/>
              <a:t>QoS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На практике </a:t>
            </a:r>
            <a:r>
              <a:rPr lang="ru-RU" dirty="0" err="1"/>
              <a:t>QoS</a:t>
            </a:r>
            <a:r>
              <a:rPr lang="ru-RU" dirty="0"/>
              <a:t> реализуется двумя основными моделями:</a:t>
            </a:r>
          </a:p>
          <a:p>
            <a:pPr marL="0" indent="0">
              <a:buNone/>
            </a:pPr>
            <a:r>
              <a:rPr lang="ru-RU" b="1" dirty="0" err="1"/>
              <a:t>IntServ</a:t>
            </a:r>
            <a:r>
              <a:rPr lang="ru-RU" b="1" dirty="0"/>
              <a:t> (</a:t>
            </a:r>
            <a:r>
              <a:rPr lang="ru-RU" b="1" dirty="0" err="1"/>
              <a:t>Integrated</a:t>
            </a:r>
            <a:r>
              <a:rPr lang="ru-RU" b="1" dirty="0"/>
              <a:t> </a:t>
            </a:r>
            <a:r>
              <a:rPr lang="ru-RU" b="1" dirty="0" err="1"/>
              <a:t>Services</a:t>
            </a:r>
            <a:r>
              <a:rPr lang="ru-RU" b="1" dirty="0"/>
              <a:t>) / RSVP:</a:t>
            </a:r>
            <a:endParaRPr lang="ru-RU" dirty="0"/>
          </a:p>
          <a:p>
            <a:pPr lvl="1"/>
            <a:r>
              <a:rPr lang="ru-RU" b="1" dirty="0"/>
              <a:t>Как работает:</a:t>
            </a:r>
            <a:r>
              <a:rPr lang="ru-RU" dirty="0"/>
              <a:t> Резервируем ресурсы заранее (как заказ столика в ресторане). Протокол сигнализации — RSVP.</a:t>
            </a:r>
          </a:p>
          <a:p>
            <a:pPr lvl="1"/>
            <a:r>
              <a:rPr lang="ru-RU" b="1" dirty="0"/>
              <a:t>Минус:</a:t>
            </a:r>
            <a:r>
              <a:rPr lang="ru-RU" dirty="0"/>
              <a:t> Плохо масштабируется для больших сетей (Интернет).</a:t>
            </a:r>
          </a:p>
          <a:p>
            <a:pPr marL="0" indent="0">
              <a:buNone/>
            </a:pPr>
            <a:r>
              <a:rPr lang="ru-RU" b="1" dirty="0" err="1"/>
              <a:t>DiffServ</a:t>
            </a:r>
            <a:r>
              <a:rPr lang="ru-RU" b="1" dirty="0"/>
              <a:t> (</a:t>
            </a:r>
            <a:r>
              <a:rPr lang="ru-RU" b="1" dirty="0" err="1"/>
              <a:t>Differentiated</a:t>
            </a:r>
            <a:r>
              <a:rPr lang="ru-RU" b="1" dirty="0"/>
              <a:t> </a:t>
            </a:r>
            <a:r>
              <a:rPr lang="ru-RU" b="1" dirty="0" err="1"/>
              <a:t>Services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b="1" dirty="0"/>
              <a:t>Как работает:</a:t>
            </a:r>
            <a:r>
              <a:rPr lang="ru-RU" dirty="0"/>
              <a:t> Маркируем пакеты метками (метка в поле DSCP заголовка IP) .</a:t>
            </a:r>
          </a:p>
          <a:p>
            <a:pPr lvl="1"/>
            <a:r>
              <a:rPr lang="ru-RU" b="1" dirty="0"/>
              <a:t>Действие:</a:t>
            </a:r>
            <a:r>
              <a:rPr lang="ru-RU" dirty="0"/>
              <a:t> «Золотым» пакетам — лучший сервис, «Серебряным» — обычный.</a:t>
            </a:r>
          </a:p>
          <a:p>
            <a:pPr lvl="1"/>
            <a:r>
              <a:rPr lang="ru-RU" b="1" dirty="0"/>
              <a:t>Плюс:</a:t>
            </a:r>
            <a:r>
              <a:rPr lang="ru-RU" dirty="0"/>
              <a:t> Хорошо масштабируется</a:t>
            </a:r>
            <a:r>
              <a:rPr lang="ru-RU" dirty="0" smtClean="0"/>
              <a:t>.</a:t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894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270737" y="2769576"/>
            <a:ext cx="636563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4800" dirty="0" smtClean="0"/>
              <a:t>Спасибо за внимание</a:t>
            </a:r>
            <a:endParaRPr lang="ru-RU" sz="4800" dirty="0"/>
          </a:p>
        </p:txBody>
      </p:sp>
    </p:spTree>
    <p:extLst>
      <p:ext uri="{BB962C8B-B14F-4D97-AF65-F5344CB8AC3E}">
        <p14:creationId xmlns:p14="http://schemas.microsoft.com/office/powerpoint/2010/main" val="395543025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241</Words>
  <Application>Microsoft Office PowerPoint</Application>
  <PresentationFormat>Широкоэкранный</PresentationFormat>
  <Paragraphs>94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quote-cjk-patch</vt:lpstr>
      <vt:lpstr>Тема Office</vt:lpstr>
      <vt:lpstr>Сетевые характеристики и качество обслуживания (QoS)</vt:lpstr>
      <vt:lpstr>Презентация PowerPoint</vt:lpstr>
      <vt:lpstr>Презентация PowerPoint</vt:lpstr>
      <vt:lpstr>Составляющие задержки</vt:lpstr>
      <vt:lpstr>Ключевые метры сети</vt:lpstr>
      <vt:lpstr>Чувствительность приложений к задержкам</vt:lpstr>
      <vt:lpstr>Чувствительность к потерям пакетов</vt:lpstr>
      <vt:lpstr>Инструменты QoS — Управление очередями</vt:lpstr>
      <vt:lpstr>Презентация PowerPoint</vt:lpstr>
      <vt:lpstr>Презентация PowerPoint</vt:lpstr>
      <vt:lpstr>Инструменты QoS — Кондиционирование трафика</vt:lpstr>
      <vt:lpstr>Архитектуры QoS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Сетевые характеристики и качество обслуживания (QoS)</dc:title>
  <dc:creator>Михаил</dc:creator>
  <cp:lastModifiedBy>Михаил</cp:lastModifiedBy>
  <cp:revision>7</cp:revision>
  <dcterms:created xsi:type="dcterms:W3CDTF">2026-05-03T22:24:51Z</dcterms:created>
  <dcterms:modified xsi:type="dcterms:W3CDTF">2026-05-03T23:29:01Z</dcterms:modified>
</cp:coreProperties>
</file>