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61" r:id="rId6"/>
    <p:sldId id="258" r:id="rId7"/>
    <p:sldId id="259" r:id="rId8"/>
    <p:sldId id="260" r:id="rId9"/>
    <p:sldId id="262" r:id="rId10"/>
    <p:sldId id="271" r:id="rId11"/>
    <p:sldId id="263" r:id="rId12"/>
    <p:sldId id="264" r:id="rId13"/>
    <p:sldId id="266" r:id="rId14"/>
    <p:sldId id="267" r:id="rId15"/>
    <p:sldId id="265" r:id="rId16"/>
    <p:sldId id="272" r:id="rId17"/>
    <p:sldId id="268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7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16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15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009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08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1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99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85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71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199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183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BF9B-1741-4511-B426-A95F2942AC3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33DF4-1B10-4E41-A4C9-A57A715AC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84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1746"/>
            <a:ext cx="9144000" cy="146135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Сетевые характеристики и качество обслуживания (</a:t>
            </a:r>
            <a:r>
              <a:rPr lang="ru-RU" b="1" dirty="0" err="1"/>
              <a:t>QoS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ru-RU" dirty="0"/>
              <a:t>Выполнил</a:t>
            </a:r>
            <a:r>
              <a:rPr lang="en-US" dirty="0"/>
              <a:t>:</a:t>
            </a:r>
          </a:p>
          <a:p>
            <a:pPr algn="r"/>
            <a:r>
              <a:rPr lang="ru-RU" dirty="0" err="1"/>
              <a:t>Лехман</a:t>
            </a:r>
            <a:r>
              <a:rPr lang="ru-RU" dirty="0"/>
              <a:t> М.</a:t>
            </a:r>
          </a:p>
          <a:p>
            <a:pPr algn="r"/>
            <a:r>
              <a:rPr lang="ru-RU" dirty="0"/>
              <a:t/>
            </a:r>
            <a:br>
              <a:rPr lang="ru-RU" dirty="0"/>
            </a:br>
            <a:r>
              <a:rPr lang="ru-RU" dirty="0"/>
              <a:t>ИПо9581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929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36330"/>
            <a:ext cx="10515600" cy="5926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b="1" dirty="0" smtClean="0"/>
              <a:t>Эволюция требований к сети:</a:t>
            </a:r>
            <a:endParaRPr lang="en-US" sz="4000" b="1" dirty="0" smtClean="0"/>
          </a:p>
          <a:p>
            <a:r>
              <a:rPr lang="ru-RU" dirty="0"/>
              <a:t>Раньше (80-е гг.) доминировали нетребовательные приложения (почта, копирование файлов), которые работали в режиме </a:t>
            </a:r>
            <a:r>
              <a:rPr lang="ru-RU" b="1" dirty="0"/>
              <a:t>«по мере возможности» (</a:t>
            </a:r>
            <a:r>
              <a:rPr lang="ru-RU" b="1" dirty="0" err="1" smtClean="0"/>
              <a:t>best-effort</a:t>
            </a:r>
            <a:r>
              <a:rPr lang="en-US" b="1" dirty="0" smtClean="0"/>
              <a:t> - </a:t>
            </a:r>
            <a:r>
              <a:rPr lang="ru-RU" b="1" dirty="0"/>
              <a:t>максимальные усилия</a:t>
            </a:r>
            <a:r>
              <a:rPr lang="ru-RU" b="1" dirty="0" smtClean="0"/>
              <a:t>)</a:t>
            </a:r>
            <a:r>
              <a:rPr lang="ru-RU" dirty="0"/>
              <a:t> .</a:t>
            </a:r>
          </a:p>
          <a:p>
            <a:r>
              <a:rPr lang="ru-RU" b="1" dirty="0"/>
              <a:t>Ситуация сейчас:</a:t>
            </a:r>
            <a:r>
              <a:rPr lang="ru-RU" dirty="0"/>
              <a:t> Появление мультимедиа, IP-телефонии и видеоконференций.</a:t>
            </a:r>
          </a:p>
          <a:p>
            <a:r>
              <a:rPr lang="ru-RU" b="1" dirty="0"/>
              <a:t>Проблема:</a:t>
            </a:r>
            <a:r>
              <a:rPr lang="ru-RU" dirty="0"/>
              <a:t> Простое повышение пропускной способности решает проблему только отчасти. Новым приложениям нужны не просто «килобайты в секунду», а </a:t>
            </a:r>
            <a:r>
              <a:rPr lang="ru-RU" b="1" dirty="0"/>
              <a:t>гарантии</a:t>
            </a:r>
            <a:r>
              <a:rPr lang="ru-RU" dirty="0"/>
              <a:t> задержки и стабильности (</a:t>
            </a:r>
            <a:r>
              <a:rPr lang="ru-RU" dirty="0" err="1"/>
              <a:t>QoS</a:t>
            </a:r>
            <a:r>
              <a:rPr lang="ru-RU" dirty="0" smtClean="0"/>
              <a:t>)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Современным </a:t>
            </a:r>
            <a:r>
              <a:rPr lang="ru-RU" dirty="0"/>
              <a:t>сетям требуется механизм обеспечения качества обслуживания (</a:t>
            </a:r>
            <a:r>
              <a:rPr lang="ru-RU" dirty="0" err="1"/>
              <a:t>Quality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, </a:t>
            </a:r>
            <a:r>
              <a:rPr lang="ru-RU" dirty="0" err="1"/>
              <a:t>QoS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01910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361" y="365125"/>
            <a:ext cx="8047892" cy="602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7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83" y="1154723"/>
            <a:ext cx="9686925" cy="4038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34462" y="5928082"/>
            <a:ext cx="86281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latin typeface="YS Text"/>
              </a:rPr>
              <a:t>Телефонная сеть общего пользования</a:t>
            </a:r>
            <a:r>
              <a:rPr lang="ru-RU" sz="1200" dirty="0">
                <a:latin typeface="YS Text"/>
              </a:rPr>
              <a:t> (ТСОП, </a:t>
            </a:r>
            <a:r>
              <a:rPr lang="ru-RU" sz="1200" dirty="0" err="1">
                <a:latin typeface="YS Text"/>
              </a:rPr>
              <a:t>ТфОП</a:t>
            </a:r>
            <a:r>
              <a:rPr lang="ru-RU" sz="1200" dirty="0">
                <a:latin typeface="YS Text"/>
              </a:rPr>
              <a:t>, англ. PSTN, </a:t>
            </a:r>
            <a:r>
              <a:rPr lang="ru-RU" sz="1200" dirty="0" err="1">
                <a:latin typeface="YS Text"/>
              </a:rPr>
              <a:t>Public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Switched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Telephone</a:t>
            </a:r>
            <a:r>
              <a:rPr lang="ru-RU" sz="1200" dirty="0">
                <a:latin typeface="YS Text"/>
              </a:rPr>
              <a:t> </a:t>
            </a:r>
            <a:r>
              <a:rPr lang="ru-RU" sz="1200" dirty="0" err="1">
                <a:latin typeface="YS Text"/>
              </a:rPr>
              <a:t>Network</a:t>
            </a:r>
            <a:r>
              <a:rPr lang="ru-RU" sz="1200" dirty="0">
                <a:latin typeface="YS Text"/>
              </a:rPr>
              <a:t>) — </a:t>
            </a:r>
            <a:r>
              <a:rPr lang="ru-RU" sz="1200" b="1" dirty="0">
                <a:latin typeface="YS Text"/>
              </a:rPr>
              <a:t>всеобщая абонентская сеть связи</a:t>
            </a:r>
            <a:r>
              <a:rPr lang="ru-RU" sz="1200" dirty="0">
                <a:latin typeface="YS Text"/>
              </a:rPr>
              <a:t>, предназначенная для совершения и приёма телефонных звонков (и передачи данных) между пользователями. 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70977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20208" y="2602523"/>
            <a:ext cx="5706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0F1115"/>
                </a:solidFill>
                <a:latin typeface="quote-cjk-patch"/>
              </a:rPr>
              <a:t>Х</a:t>
            </a:r>
            <a:r>
              <a:rPr lang="ru-RU" sz="5400" b="1" dirty="0" smtClean="0">
                <a:solidFill>
                  <a:srgbClr val="0F1115"/>
                </a:solidFill>
                <a:effectLst/>
                <a:latin typeface="quote-cjk-patch"/>
              </a:rPr>
              <a:t>арактеристики</a:t>
            </a:r>
            <a:endParaRPr lang="ru-RU" sz="54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55265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Составляющие</a:t>
            </a:r>
            <a:r>
              <a:rPr lang="ru-RU" b="1" dirty="0"/>
              <a:t> </a:t>
            </a:r>
            <a:r>
              <a:rPr lang="ru-RU" b="1" dirty="0" smtClean="0"/>
              <a:t>задержки</a:t>
            </a:r>
            <a:endParaRPr lang="ru-RU" b="1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8073526"/>
              </p:ext>
            </p:extLst>
          </p:nvPr>
        </p:nvGraphicFramePr>
        <p:xfrm>
          <a:off x="1875691" y="2060246"/>
          <a:ext cx="8440617" cy="4402100"/>
        </p:xfrm>
        <a:graphic>
          <a:graphicData uri="http://schemas.openxmlformats.org/drawingml/2006/table">
            <a:tbl>
              <a:tblPr/>
              <a:tblGrid>
                <a:gridCol w="2813539">
                  <a:extLst>
                    <a:ext uri="{9D8B030D-6E8A-4147-A177-3AD203B41FA5}">
                      <a16:colId xmlns:a16="http://schemas.microsoft.com/office/drawing/2014/main" val="273212345"/>
                    </a:ext>
                  </a:extLst>
                </a:gridCol>
                <a:gridCol w="2813539">
                  <a:extLst>
                    <a:ext uri="{9D8B030D-6E8A-4147-A177-3AD203B41FA5}">
                      <a16:colId xmlns:a16="http://schemas.microsoft.com/office/drawing/2014/main" val="98614195"/>
                    </a:ext>
                  </a:extLst>
                </a:gridCol>
                <a:gridCol w="2813539">
                  <a:extLst>
                    <a:ext uri="{9D8B030D-6E8A-4147-A177-3AD203B41FA5}">
                      <a16:colId xmlns:a16="http://schemas.microsoft.com/office/drawing/2014/main" val="1636797227"/>
                    </a:ext>
                  </a:extLst>
                </a:gridCol>
              </a:tblGrid>
              <a:tr h="553666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Тип задержки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Характеристика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От чего зависит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5408"/>
                  </a:ext>
                </a:extLst>
              </a:tr>
              <a:tr h="88042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Время сериализации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Фиксированная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Скорость передачи данных.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741708"/>
                  </a:ext>
                </a:extLst>
              </a:tr>
              <a:tr h="88042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Время распространения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Фиксированная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Длина кабеля (скорость света).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03573"/>
                  </a:ext>
                </a:extLst>
              </a:tr>
              <a:tr h="1207174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Время коммутации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Переменная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Быстродействие процессора коммутатора.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845937"/>
                  </a:ext>
                </a:extLst>
              </a:tr>
              <a:tr h="88042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Время ожидания в очереди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Переменная (основная проблема)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Загрузка сети, количество коллизий.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049386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013438" y="1435656"/>
            <a:ext cx="88450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Суммарная задержка складывается из фиксированных и переменных величин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47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584831" cy="1325563"/>
          </a:xfrm>
        </p:spPr>
        <p:txBody>
          <a:bodyPr/>
          <a:lstStyle/>
          <a:p>
            <a:r>
              <a:rPr lang="ru-RU" b="1" dirty="0"/>
              <a:t>Ключевые </a:t>
            </a:r>
            <a:r>
              <a:rPr lang="ru-RU" b="1" dirty="0" smtClean="0"/>
              <a:t>метры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b="1" dirty="0"/>
              <a:t>Скоростные характеристики:</a:t>
            </a:r>
            <a:endParaRPr lang="ru-RU" sz="3600" dirty="0"/>
          </a:p>
          <a:p>
            <a:pPr lvl="1"/>
            <a:r>
              <a:rPr lang="ru-RU" sz="3600" b="1" dirty="0"/>
              <a:t>Средняя скорость </a:t>
            </a:r>
            <a:r>
              <a:rPr lang="ru-RU" sz="3600" b="1" dirty="0" smtClean="0"/>
              <a:t>:</a:t>
            </a:r>
            <a:r>
              <a:rPr lang="ru-RU" sz="3600" dirty="0"/>
              <a:t> Долговременный средний показатель.</a:t>
            </a:r>
          </a:p>
          <a:p>
            <a:pPr lvl="1"/>
            <a:r>
              <a:rPr lang="ru-RU" sz="3600" b="1" dirty="0"/>
              <a:t>Пиковая скорость </a:t>
            </a:r>
            <a:r>
              <a:rPr lang="ru-RU" sz="3600" b="1" dirty="0" smtClean="0"/>
              <a:t>:</a:t>
            </a:r>
            <a:r>
              <a:rPr lang="ru-RU" sz="3600" dirty="0"/>
              <a:t> Максимальная мгновенная скорость.</a:t>
            </a:r>
          </a:p>
          <a:p>
            <a:pPr lvl="1"/>
            <a:r>
              <a:rPr lang="ru-RU" sz="3600" b="1" dirty="0"/>
              <a:t>Пульсация </a:t>
            </a:r>
            <a:r>
              <a:rPr lang="ru-RU" sz="3600" b="1" dirty="0" smtClean="0"/>
              <a:t>:</a:t>
            </a:r>
            <a:r>
              <a:rPr lang="ru-RU" sz="3600" dirty="0"/>
              <a:t> Отношение пиковой скорости к средней (важно для веб-серфинга и файлов).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881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Чувствительность приложений к </a:t>
            </a:r>
            <a:r>
              <a:rPr lang="ru-RU" b="1" dirty="0" smtClean="0"/>
              <a:t>задержкам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970985"/>
              </p:ext>
            </p:extLst>
          </p:nvPr>
        </p:nvGraphicFramePr>
        <p:xfrm>
          <a:off x="2417887" y="1690688"/>
          <a:ext cx="7322523" cy="4351338"/>
        </p:xfrm>
        <a:graphic>
          <a:graphicData uri="http://schemas.openxmlformats.org/drawingml/2006/table">
            <a:tbl>
              <a:tblPr/>
              <a:tblGrid>
                <a:gridCol w="2440841">
                  <a:extLst>
                    <a:ext uri="{9D8B030D-6E8A-4147-A177-3AD203B41FA5}">
                      <a16:colId xmlns:a16="http://schemas.microsoft.com/office/drawing/2014/main" val="265940874"/>
                    </a:ext>
                  </a:extLst>
                </a:gridCol>
                <a:gridCol w="2440841">
                  <a:extLst>
                    <a:ext uri="{9D8B030D-6E8A-4147-A177-3AD203B41FA5}">
                      <a16:colId xmlns:a16="http://schemas.microsoft.com/office/drawing/2014/main" val="2538373447"/>
                    </a:ext>
                  </a:extLst>
                </a:gridCol>
                <a:gridCol w="2440841">
                  <a:extLst>
                    <a:ext uri="{9D8B030D-6E8A-4147-A177-3AD203B41FA5}">
                      <a16:colId xmlns:a16="http://schemas.microsoft.com/office/drawing/2014/main" val="3733887250"/>
                    </a:ext>
                  </a:extLst>
                </a:gridCol>
              </a:tblGrid>
              <a:tr h="421990"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effectLst/>
                          <a:latin typeface="quote-cjk-patch"/>
                        </a:rPr>
                        <a:t>Тип (по задержкам)</a:t>
                      </a:r>
                    </a:p>
                  </a:txBody>
                  <a:tcPr marL="83014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effectLst/>
                          <a:latin typeface="quote-cjk-patch"/>
                        </a:rPr>
                        <a:t>Примеры</a:t>
                      </a:r>
                    </a:p>
                  </a:txBody>
                  <a:tcPr marL="138357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effectLst/>
                          <a:latin typeface="quote-cjk-patch"/>
                        </a:rPr>
                        <a:t>Требования к сети</a:t>
                      </a:r>
                    </a:p>
                  </a:txBody>
                  <a:tcPr marL="138357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781350"/>
                  </a:ext>
                </a:extLst>
              </a:tr>
              <a:tr h="671033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Асинхронные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3014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Электронная почта, 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FTP</a:t>
                      </a:r>
                    </a:p>
                  </a:txBody>
                  <a:tcPr marL="138357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Низкие. Терпят паузы в секунды.</a:t>
                      </a:r>
                    </a:p>
                  </a:txBody>
                  <a:tcPr marL="138357" marR="83014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504191"/>
                  </a:ext>
                </a:extLst>
              </a:tr>
              <a:tr h="920076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Интерактивные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3014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Текстовый редактор (удаленный), </a:t>
                      </a:r>
                      <a:r>
                        <a:rPr lang="en-US" sz="1600" b="0" dirty="0">
                          <a:effectLst/>
                          <a:latin typeface="quote-cjk-patch"/>
                        </a:rPr>
                        <a:t>Telnet</a:t>
                      </a:r>
                    </a:p>
                  </a:txBody>
                  <a:tcPr marL="138357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Средние. Задержка заметна, но не смертельна.</a:t>
                      </a:r>
                    </a:p>
                  </a:txBody>
                  <a:tcPr marL="138357" marR="83014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420025"/>
                  </a:ext>
                </a:extLst>
              </a:tr>
              <a:tr h="1418163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Изохронные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3014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IP-</a:t>
                      </a:r>
                      <a:r>
                        <a:rPr lang="ru-RU" sz="1600" b="0">
                          <a:effectLst/>
                          <a:latin typeface="quote-cjk-patch"/>
                        </a:rPr>
                        <a:t>телефония, Видеоконференция</a:t>
                      </a:r>
                    </a:p>
                  </a:txBody>
                  <a:tcPr marL="138357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Жесткие</a:t>
                      </a:r>
                      <a:r>
                        <a:rPr lang="ru-RU" sz="1600" b="0">
                          <a:effectLst/>
                          <a:latin typeface="quote-cjk-patch"/>
                        </a:rPr>
                        <a:t> (менее 150 мс). Превышение порога разрушает связь.</a:t>
                      </a:r>
                    </a:p>
                  </a:txBody>
                  <a:tcPr marL="138357" marR="83014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351650"/>
                  </a:ext>
                </a:extLst>
              </a:tr>
              <a:tr h="920076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Сверхчувствительные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83014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Управление роботами/транспортом</a:t>
                      </a:r>
                    </a:p>
                  </a:txBody>
                  <a:tcPr marL="138357" marR="138357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Минимальные. Опоздание сигнала = авария.</a:t>
                      </a:r>
                    </a:p>
                  </a:txBody>
                  <a:tcPr marL="138357" marR="83014" marT="86473" marB="86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24052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681189" y="6311900"/>
            <a:ext cx="2829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1" dirty="0" smtClean="0">
                <a:solidFill>
                  <a:srgbClr val="0F1115"/>
                </a:solidFill>
                <a:effectLst/>
                <a:latin typeface="quote-cjk-patch"/>
              </a:rPr>
              <a:t>Классификация </a:t>
            </a:r>
            <a:r>
              <a:rPr lang="ru-RU" b="0" i="1" dirty="0" err="1" smtClean="0">
                <a:solidFill>
                  <a:srgbClr val="0F1115"/>
                </a:solidFill>
                <a:effectLst/>
                <a:latin typeface="quote-cjk-patch"/>
              </a:rPr>
              <a:t>Олифер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846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Чувствительность к потерям </a:t>
            </a:r>
            <a:r>
              <a:rPr lang="ru-RU" b="1" dirty="0" smtClean="0"/>
              <a:t>пакетов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4531" y="1852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Не все данные одинаково критичны к потерям:</a:t>
            </a:r>
          </a:p>
          <a:p>
            <a:pPr marL="0" indent="0">
              <a:buNone/>
            </a:pPr>
            <a:r>
              <a:rPr lang="ru-RU" b="1" dirty="0"/>
              <a:t>Чувствительные (</a:t>
            </a:r>
            <a:r>
              <a:rPr lang="ru-RU" b="1" dirty="0" err="1"/>
              <a:t>Non-elastic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i="1" dirty="0"/>
              <a:t>Тип данных:</a:t>
            </a:r>
            <a:r>
              <a:rPr lang="ru-RU" dirty="0"/>
              <a:t> Архивы, программы, текст, базы данных.</a:t>
            </a:r>
          </a:p>
          <a:p>
            <a:pPr lvl="1"/>
            <a:r>
              <a:rPr lang="ru-RU" i="1" dirty="0"/>
              <a:t>Реакция:</a:t>
            </a:r>
            <a:r>
              <a:rPr lang="ru-RU" dirty="0"/>
              <a:t> Даже потеря одного байта -&gt; Файл бесполезен.</a:t>
            </a:r>
          </a:p>
          <a:p>
            <a:pPr lvl="1"/>
            <a:r>
              <a:rPr lang="ru-RU" i="1" dirty="0"/>
              <a:t>Сервис:</a:t>
            </a:r>
            <a:r>
              <a:rPr lang="ru-RU" dirty="0"/>
              <a:t> Необходима 100% доставка (TCP</a:t>
            </a:r>
            <a:r>
              <a:rPr lang="ru-RU" dirty="0" smtClean="0"/>
              <a:t>).</a:t>
            </a:r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ru-RU" b="1" dirty="0"/>
              <a:t>Устойчивые (</a:t>
            </a:r>
            <a:r>
              <a:rPr lang="ru-RU" b="1" dirty="0" err="1"/>
              <a:t>Elastic</a:t>
            </a:r>
            <a:r>
              <a:rPr lang="ru-RU" b="1" dirty="0"/>
              <a:t> / </a:t>
            </a:r>
            <a:r>
              <a:rPr lang="ru-RU" b="1" dirty="0" err="1"/>
              <a:t>Loss-Tolerant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i="1" dirty="0"/>
              <a:t>Тип данных:</a:t>
            </a:r>
            <a:r>
              <a:rPr lang="ru-RU" dirty="0"/>
              <a:t> Голос, видео (мультимедиа).</a:t>
            </a:r>
          </a:p>
          <a:p>
            <a:pPr lvl="1"/>
            <a:r>
              <a:rPr lang="ru-RU" i="1" dirty="0"/>
              <a:t>Реакция:</a:t>
            </a:r>
            <a:r>
              <a:rPr lang="ru-RU" dirty="0"/>
              <a:t> Потеря одного пакета может быть скрыта интерполяцией.</a:t>
            </a:r>
          </a:p>
          <a:p>
            <a:pPr lvl="1"/>
            <a:r>
              <a:rPr lang="ru-RU" i="1" dirty="0"/>
              <a:t>Порог:</a:t>
            </a:r>
            <a:r>
              <a:rPr lang="ru-RU" dirty="0"/>
              <a:t> Допустимо до 1-5% потерь (без критического ухудшения качества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899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58" y="453333"/>
            <a:ext cx="10853084" cy="572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670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Инструменты </a:t>
            </a:r>
            <a:r>
              <a:rPr lang="en-US" b="1" dirty="0" err="1"/>
              <a:t>QoS</a:t>
            </a:r>
            <a:r>
              <a:rPr lang="en-US" b="1" dirty="0"/>
              <a:t> — </a:t>
            </a:r>
            <a:r>
              <a:rPr lang="ru-RU" b="1" dirty="0"/>
              <a:t>Управление </a:t>
            </a:r>
            <a:r>
              <a:rPr lang="ru-RU" b="1" dirty="0" smtClean="0"/>
              <a:t>очередями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QoS</a:t>
            </a:r>
            <a:r>
              <a:rPr lang="ru-RU" b="1" dirty="0"/>
              <a:t> (</a:t>
            </a:r>
            <a:r>
              <a:rPr lang="ru-RU" b="1" dirty="0" err="1"/>
              <a:t>Quality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Service</a:t>
            </a:r>
            <a:r>
              <a:rPr lang="ru-RU" b="1" dirty="0"/>
              <a:t> — «качество обслуживания»)</a:t>
            </a:r>
            <a:r>
              <a:rPr lang="ru-RU" dirty="0"/>
              <a:t> — это набор технологий для оптимизации сетевого трафика путём назначения приоритетов передачи </a:t>
            </a:r>
            <a:r>
              <a:rPr lang="ru-RU" dirty="0" smtClean="0"/>
              <a:t>данных.</a:t>
            </a:r>
          </a:p>
          <a:p>
            <a:r>
              <a:rPr lang="ru-RU" dirty="0" smtClean="0"/>
              <a:t>Цель </a:t>
            </a:r>
            <a:r>
              <a:rPr lang="ru-RU" dirty="0" err="1"/>
              <a:t>QoS</a:t>
            </a:r>
            <a:r>
              <a:rPr lang="ru-RU" dirty="0"/>
              <a:t> — обеспечить высокий уровень обслуживания для критически важных приложений и типов трафика, даже при ограниченных ресурсах сети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Когда канал перегружен, маршрутизатор/коммутатор должен решить, какой пакет отбросить, а какой отправить первым</a:t>
            </a:r>
          </a:p>
        </p:txBody>
      </p:sp>
    </p:spTree>
    <p:extLst>
      <p:ext uri="{BB962C8B-B14F-4D97-AF65-F5344CB8AC3E}">
        <p14:creationId xmlns:p14="http://schemas.microsoft.com/office/powerpoint/2010/main" val="419997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75" y="517890"/>
            <a:ext cx="8943975" cy="594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24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1822" y="738554"/>
            <a:ext cx="11022623" cy="5596671"/>
          </a:xfrm>
        </p:spPr>
        <p:txBody>
          <a:bodyPr>
            <a:normAutofit lnSpcReduction="10000"/>
          </a:bodyPr>
          <a:lstStyle/>
          <a:p>
            <a:r>
              <a:rPr lang="ru-RU" sz="3200" b="1" dirty="0"/>
              <a:t>FIFO (</a:t>
            </a:r>
            <a:r>
              <a:rPr lang="ru-RU" sz="3200" b="1" dirty="0" err="1"/>
              <a:t>First</a:t>
            </a:r>
            <a:r>
              <a:rPr lang="ru-RU" sz="3200" b="1" dirty="0"/>
              <a:t> </a:t>
            </a:r>
            <a:r>
              <a:rPr lang="ru-RU" sz="3200" b="1" dirty="0" err="1"/>
              <a:t>In</a:t>
            </a:r>
            <a:r>
              <a:rPr lang="ru-RU" sz="3200" b="1" dirty="0"/>
              <a:t>, </a:t>
            </a:r>
            <a:r>
              <a:rPr lang="ru-RU" sz="3200" b="1" dirty="0" err="1"/>
              <a:t>First</a:t>
            </a:r>
            <a:r>
              <a:rPr lang="ru-RU" sz="3200" b="1" dirty="0"/>
              <a:t> </a:t>
            </a:r>
            <a:r>
              <a:rPr lang="ru-RU" sz="3200" b="1" dirty="0" err="1"/>
              <a:t>Out</a:t>
            </a:r>
            <a:r>
              <a:rPr lang="ru-RU" sz="3200" b="1" dirty="0"/>
              <a:t>):</a:t>
            </a:r>
            <a:r>
              <a:rPr lang="ru-RU" sz="3200" dirty="0"/>
              <a:t> Общая очередь. «Кто первым встал — того и отправили». Нет приоритетов</a:t>
            </a:r>
            <a:r>
              <a:rPr lang="ru-RU" sz="3200" dirty="0" smtClean="0"/>
              <a:t>.</a:t>
            </a:r>
          </a:p>
          <a:p>
            <a:endParaRPr lang="ru-RU" sz="3200" dirty="0"/>
          </a:p>
          <a:p>
            <a:r>
              <a:rPr lang="ru-RU" sz="3200" b="1" dirty="0"/>
              <a:t>Приоритетные очереди (</a:t>
            </a:r>
            <a:r>
              <a:rPr lang="ru-RU" sz="3200" b="1" dirty="0" smtClean="0"/>
              <a:t>PQ</a:t>
            </a:r>
            <a:r>
              <a:rPr lang="en-US" sz="3200" b="1" dirty="0" smtClean="0"/>
              <a:t> - </a:t>
            </a:r>
            <a:r>
              <a:rPr lang="en-US" dirty="0"/>
              <a:t>priority queue</a:t>
            </a:r>
            <a:r>
              <a:rPr lang="ru-RU" sz="3200" b="1" dirty="0" smtClean="0"/>
              <a:t>):</a:t>
            </a:r>
            <a:endParaRPr lang="ru-RU" sz="3200" dirty="0"/>
          </a:p>
          <a:p>
            <a:pPr lvl="1"/>
            <a:r>
              <a:rPr lang="ru-RU" sz="3200" dirty="0"/>
              <a:t>Есть несколько очередей (Высокая, Средняя, Низкая).</a:t>
            </a:r>
          </a:p>
          <a:p>
            <a:pPr lvl="1"/>
            <a:r>
              <a:rPr lang="ru-RU" sz="3200" i="1" dirty="0"/>
              <a:t>Минус:</a:t>
            </a:r>
            <a:r>
              <a:rPr lang="ru-RU" sz="3200" dirty="0"/>
              <a:t> «Голод» низкоприоритетного трафика</a:t>
            </a:r>
            <a:r>
              <a:rPr lang="ru-RU" sz="3200" dirty="0" smtClean="0"/>
              <a:t>.</a:t>
            </a:r>
          </a:p>
          <a:p>
            <a:pPr lvl="1"/>
            <a:endParaRPr lang="ru-RU" sz="3200" dirty="0"/>
          </a:p>
          <a:p>
            <a:r>
              <a:rPr lang="ru-RU" sz="3200" b="1" dirty="0"/>
              <a:t>Взвешенные очереди (</a:t>
            </a:r>
            <a:r>
              <a:rPr lang="ru-RU" sz="3200" b="1" dirty="0" smtClean="0"/>
              <a:t>WFQ</a:t>
            </a:r>
            <a:r>
              <a:rPr lang="en-US" sz="3200" b="1" dirty="0" smtClean="0"/>
              <a:t> - </a:t>
            </a:r>
            <a:r>
              <a:rPr lang="en-US" dirty="0"/>
              <a:t>Weighted fair queuing</a:t>
            </a:r>
            <a:r>
              <a:rPr lang="ru-RU" sz="3200" b="1" dirty="0" smtClean="0"/>
              <a:t>):</a:t>
            </a:r>
            <a:endParaRPr lang="ru-RU" sz="3200" dirty="0"/>
          </a:p>
          <a:p>
            <a:pPr lvl="1"/>
            <a:r>
              <a:rPr lang="ru-RU" sz="3200" dirty="0"/>
              <a:t>Каждому потоку выделяется доля пропускной способности.</a:t>
            </a:r>
          </a:p>
          <a:p>
            <a:pPr lvl="1"/>
            <a:r>
              <a:rPr lang="ru-RU" sz="3200" i="1" dirty="0"/>
              <a:t>Плюс:</a:t>
            </a:r>
            <a:r>
              <a:rPr lang="ru-RU" sz="3200" dirty="0"/>
              <a:t> Справедливость, предсказуемость.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0346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90638" cy="1325563"/>
          </a:xfrm>
        </p:spPr>
        <p:txBody>
          <a:bodyPr>
            <a:normAutofit/>
          </a:bodyPr>
          <a:lstStyle/>
          <a:p>
            <a:r>
              <a:rPr lang="ru-RU" b="1" dirty="0"/>
              <a:t>Инструменты </a:t>
            </a:r>
            <a:r>
              <a:rPr lang="en-US" b="1" dirty="0" err="1"/>
              <a:t>QoS</a:t>
            </a:r>
            <a:r>
              <a:rPr lang="en-US" b="1" dirty="0"/>
              <a:t> — </a:t>
            </a:r>
            <a:r>
              <a:rPr lang="ru-RU" b="1" dirty="0"/>
              <a:t>Кондиционирование </a:t>
            </a:r>
            <a:r>
              <a:rPr lang="ru-RU" b="1" dirty="0" smtClean="0"/>
              <a:t>трафика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Механизмы ограничения и формирования трафика (</a:t>
            </a:r>
            <a:r>
              <a:rPr lang="en-US" dirty="0"/>
              <a:t>Traffic Policing / Shaping) .</a:t>
            </a:r>
          </a:p>
          <a:p>
            <a:r>
              <a:rPr lang="ru-RU" b="1" dirty="0"/>
              <a:t>Схема «Маркерное ведро» (</a:t>
            </a:r>
            <a:r>
              <a:rPr lang="en-US" b="1" dirty="0"/>
              <a:t>Token Bucket):</a:t>
            </a:r>
            <a:endParaRPr lang="en-US" dirty="0"/>
          </a:p>
          <a:p>
            <a:r>
              <a:rPr lang="ru-RU" dirty="0"/>
              <a:t>Пакеты проходят через «контроллер».</a:t>
            </a:r>
          </a:p>
          <a:p>
            <a:r>
              <a:rPr lang="ru-RU" dirty="0"/>
              <a:t>Если трафик укладывается в оговоренный лимит (</a:t>
            </a:r>
            <a:r>
              <a:rPr lang="en-US" dirty="0"/>
              <a:t>CIR — Committed Information Rate) -&gt; </a:t>
            </a:r>
            <a:r>
              <a:rPr lang="ru-RU" dirty="0"/>
              <a:t>пропускаем.</a:t>
            </a:r>
          </a:p>
          <a:p>
            <a:r>
              <a:rPr lang="ru-RU" dirty="0"/>
              <a:t>Если превышает:</a:t>
            </a:r>
          </a:p>
          <a:p>
            <a:pPr lvl="1"/>
            <a:r>
              <a:rPr lang="en-US" b="1" dirty="0"/>
              <a:t>Policing:</a:t>
            </a:r>
            <a:r>
              <a:rPr lang="en-US" dirty="0"/>
              <a:t> </a:t>
            </a:r>
            <a:r>
              <a:rPr lang="ru-RU" dirty="0"/>
              <a:t>Отбросить лишнее (</a:t>
            </a:r>
            <a:r>
              <a:rPr lang="en-US" dirty="0"/>
              <a:t>Drop).</a:t>
            </a:r>
          </a:p>
          <a:p>
            <a:pPr lvl="1"/>
            <a:r>
              <a:rPr lang="en-US" b="1" dirty="0"/>
              <a:t>Shaping:</a:t>
            </a:r>
            <a:r>
              <a:rPr lang="en-US" dirty="0"/>
              <a:t> </a:t>
            </a:r>
            <a:r>
              <a:rPr lang="ru-RU" dirty="0"/>
              <a:t>Задержать лишнее в буфере (</a:t>
            </a:r>
            <a:r>
              <a:rPr lang="en-US" dirty="0"/>
              <a:t>Buffer).</a:t>
            </a:r>
          </a:p>
          <a:p>
            <a:pPr marL="0" indent="0">
              <a:buNone/>
            </a:pPr>
            <a:r>
              <a:rPr lang="ru-RU" b="1" dirty="0"/>
              <a:t>Зачем:</a:t>
            </a:r>
            <a:r>
              <a:rPr lang="ru-RU" dirty="0"/>
              <a:t> Сглаживание пульсации трафика, чтобы перегружать магистраль.</a:t>
            </a:r>
          </a:p>
        </p:txBody>
      </p:sp>
    </p:spTree>
    <p:extLst>
      <p:ext uri="{BB962C8B-B14F-4D97-AF65-F5344CB8AC3E}">
        <p14:creationId xmlns:p14="http://schemas.microsoft.com/office/powerpoint/2010/main" val="2131951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Архитектуры </a:t>
            </a:r>
            <a:r>
              <a:rPr lang="en-US" b="1" dirty="0" err="1" smtClean="0"/>
              <a:t>QoS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На практике </a:t>
            </a:r>
            <a:r>
              <a:rPr lang="ru-RU" dirty="0" err="1"/>
              <a:t>QoS</a:t>
            </a:r>
            <a:r>
              <a:rPr lang="ru-RU" dirty="0"/>
              <a:t> реализуется двумя основными моделями:</a:t>
            </a:r>
          </a:p>
          <a:p>
            <a:pPr marL="0" indent="0">
              <a:buNone/>
            </a:pPr>
            <a:r>
              <a:rPr lang="ru-RU" b="1" dirty="0" err="1"/>
              <a:t>IntServ</a:t>
            </a:r>
            <a:r>
              <a:rPr lang="ru-RU" b="1" dirty="0"/>
              <a:t> (</a:t>
            </a:r>
            <a:r>
              <a:rPr lang="ru-RU" b="1" dirty="0" err="1"/>
              <a:t>Integrated</a:t>
            </a:r>
            <a:r>
              <a:rPr lang="ru-RU" b="1" dirty="0"/>
              <a:t> </a:t>
            </a:r>
            <a:r>
              <a:rPr lang="ru-RU" b="1" dirty="0" err="1"/>
              <a:t>Services</a:t>
            </a:r>
            <a:r>
              <a:rPr lang="ru-RU" b="1" dirty="0"/>
              <a:t>) / RSVP:</a:t>
            </a:r>
            <a:endParaRPr lang="ru-RU" dirty="0"/>
          </a:p>
          <a:p>
            <a:pPr lvl="1"/>
            <a:r>
              <a:rPr lang="ru-RU" b="1" dirty="0"/>
              <a:t>Как работает:</a:t>
            </a:r>
            <a:r>
              <a:rPr lang="ru-RU" dirty="0"/>
              <a:t> Резервируем ресурсы заранее (как заказ столика в ресторане). Протокол сигнализации — RSVP.</a:t>
            </a:r>
          </a:p>
          <a:p>
            <a:pPr lvl="1"/>
            <a:r>
              <a:rPr lang="ru-RU" b="1" dirty="0"/>
              <a:t>Минус:</a:t>
            </a:r>
            <a:r>
              <a:rPr lang="ru-RU" dirty="0"/>
              <a:t> Плохо масштабируется для больших сетей (Интернет).</a:t>
            </a:r>
          </a:p>
          <a:p>
            <a:pPr marL="0" indent="0">
              <a:buNone/>
            </a:pPr>
            <a:r>
              <a:rPr lang="ru-RU" b="1" dirty="0" err="1"/>
              <a:t>DiffServ</a:t>
            </a:r>
            <a:r>
              <a:rPr lang="ru-RU" b="1" dirty="0"/>
              <a:t> (</a:t>
            </a:r>
            <a:r>
              <a:rPr lang="ru-RU" b="1" dirty="0" err="1"/>
              <a:t>Differentiated</a:t>
            </a:r>
            <a:r>
              <a:rPr lang="ru-RU" b="1" dirty="0"/>
              <a:t> </a:t>
            </a:r>
            <a:r>
              <a:rPr lang="ru-RU" b="1" dirty="0" err="1"/>
              <a:t>Services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b="1" dirty="0"/>
              <a:t>Как работает:</a:t>
            </a:r>
            <a:r>
              <a:rPr lang="ru-RU" dirty="0"/>
              <a:t> Маркируем пакеты метками (метка в поле DSCP заголовка IP) .</a:t>
            </a:r>
          </a:p>
          <a:p>
            <a:pPr lvl="1"/>
            <a:r>
              <a:rPr lang="ru-RU" b="1" dirty="0"/>
              <a:t>Действие:</a:t>
            </a:r>
            <a:r>
              <a:rPr lang="ru-RU" dirty="0"/>
              <a:t> «Золотым» пакетам — лучший сервис, «Серебряным» — обычный.</a:t>
            </a:r>
          </a:p>
          <a:p>
            <a:pPr lvl="1"/>
            <a:r>
              <a:rPr lang="ru-RU" b="1" dirty="0"/>
              <a:t>Плюс:</a:t>
            </a:r>
            <a:r>
              <a:rPr lang="ru-RU" dirty="0"/>
              <a:t> Хорошо масштабируется</a:t>
            </a:r>
            <a:r>
              <a:rPr lang="ru-RU" dirty="0" smtClean="0"/>
              <a:t>.</a:t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894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346" y="858043"/>
            <a:ext cx="6880877" cy="516065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654884" y="2479900"/>
            <a:ext cx="3238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AF PHB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 («Гарантированная пересылка») — это набор правил обработки пакетов на каждом сетевом узле (маршрутизаторе)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725223" y="4369815"/>
            <a:ext cx="3238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EF PHB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 («Ускоренная пересылка») — это набор правил обработки пакетов на каждом сетевом узле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319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270737" y="2769576"/>
            <a:ext cx="63656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dirty="0" smtClean="0"/>
              <a:t>Спасибо за внимание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9554302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247</Words>
  <Application>Microsoft Office PowerPoint</Application>
  <PresentationFormat>Широкоэкранный</PresentationFormat>
  <Paragraphs>97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quote-cjk-patch</vt:lpstr>
      <vt:lpstr>YS Text</vt:lpstr>
      <vt:lpstr>Тема Office</vt:lpstr>
      <vt:lpstr>Сетевые характеристики и качество обслуживания (QoS)</vt:lpstr>
      <vt:lpstr>Презентация PowerPoint</vt:lpstr>
      <vt:lpstr>Презентация PowerPoint</vt:lpstr>
      <vt:lpstr>Презентация PowerPoint</vt:lpstr>
      <vt:lpstr>Презентация PowerPoint</vt:lpstr>
      <vt:lpstr>Составляющие задержки</vt:lpstr>
      <vt:lpstr>Ключевые метры сети</vt:lpstr>
      <vt:lpstr>Чувствительность приложений к задержкам</vt:lpstr>
      <vt:lpstr>Чувствительность к потерям пакетов</vt:lpstr>
      <vt:lpstr>Презентация PowerPoint</vt:lpstr>
      <vt:lpstr>Инструменты QoS — Управление очередями</vt:lpstr>
      <vt:lpstr>Презентация PowerPoint</vt:lpstr>
      <vt:lpstr>Презентация PowerPoint</vt:lpstr>
      <vt:lpstr>Инструменты QoS — Кондиционирование трафика</vt:lpstr>
      <vt:lpstr>Архитектуры QoS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Сетевые характеристики и качество обслуживания (QoS)</dc:title>
  <dc:creator>Михаил</dc:creator>
  <cp:lastModifiedBy>Михаил</cp:lastModifiedBy>
  <cp:revision>12</cp:revision>
  <dcterms:created xsi:type="dcterms:W3CDTF">2026-05-03T22:24:51Z</dcterms:created>
  <dcterms:modified xsi:type="dcterms:W3CDTF">2026-05-12T08:38:17Z</dcterms:modified>
</cp:coreProperties>
</file>