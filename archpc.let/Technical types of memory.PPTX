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32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09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10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55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23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4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65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89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25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81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47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FBA72-14B7-4B4D-A9BE-C6D0BA5B5708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9E5FC-713C-4F92-860C-23C5F6A8EF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74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97623" y="867386"/>
            <a:ext cx="9144000" cy="2387600"/>
          </a:xfrm>
        </p:spPr>
        <p:txBody>
          <a:bodyPr/>
          <a:lstStyle/>
          <a:p>
            <a:r>
              <a:rPr lang="ru-RU" b="1" dirty="0" smtClean="0"/>
              <a:t>Виды Памяти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25262" y="4366969"/>
            <a:ext cx="9144000" cy="1655762"/>
          </a:xfrm>
        </p:spPr>
        <p:txBody>
          <a:bodyPr/>
          <a:lstStyle/>
          <a:p>
            <a:pPr algn="r"/>
            <a:r>
              <a:rPr lang="ru-RU" dirty="0" smtClean="0"/>
              <a:t>Выполнил: </a:t>
            </a:r>
            <a:r>
              <a:rPr lang="ru-RU" dirty="0" err="1" smtClean="0"/>
              <a:t>Лехман</a:t>
            </a:r>
            <a:r>
              <a:rPr lang="ru-RU" dirty="0" smtClean="0"/>
              <a:t> Михаил ИПо9581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274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46479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/>
              <a:t>Компьютерную память принято делить на </a:t>
            </a:r>
            <a:r>
              <a:rPr lang="ru-RU" sz="3200" b="1" u="sng" dirty="0"/>
              <a:t>два</a:t>
            </a:r>
            <a:r>
              <a:rPr lang="ru-RU" sz="3200" b="1" dirty="0"/>
              <a:t> основных вида по принципу </a:t>
            </a:r>
            <a:r>
              <a:rPr lang="ru-RU" sz="3200" b="1" dirty="0" err="1"/>
              <a:t>энергозависимости</a:t>
            </a:r>
            <a:r>
              <a:rPr lang="ru-RU" sz="3200" b="1" dirty="0"/>
              <a:t> и назначению.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01671"/>
            <a:ext cx="10515600" cy="4351338"/>
          </a:xfrm>
        </p:spPr>
        <p:txBody>
          <a:bodyPr/>
          <a:lstStyle/>
          <a:p>
            <a:r>
              <a:rPr lang="ru-RU" b="1" dirty="0" smtClean="0"/>
              <a:t>Принцип:</a:t>
            </a:r>
            <a:r>
              <a:rPr lang="ru-RU" dirty="0" smtClean="0"/>
              <a:t> Данные записываются один раз (при производстве или пользователем) и сохраняются после отключения питания. Перезапись невозможна или затруднена.</a:t>
            </a:r>
          </a:p>
          <a:p>
            <a:r>
              <a:rPr lang="ru-RU" b="1" dirty="0" smtClean="0"/>
              <a:t>Предназначение:</a:t>
            </a:r>
            <a:r>
              <a:rPr lang="ru-RU" dirty="0" smtClean="0"/>
              <a:t> Хранение неизменяемых данных: микропрограмм (BIOS/UEFI), прошивок устройств, загрузчиков ОС.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2213111"/>
            <a:ext cx="86545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1. </a:t>
            </a:r>
            <a:r>
              <a:rPr lang="en-US" sz="2800" b="1" i="0" dirty="0" err="1" smtClean="0">
                <a:solidFill>
                  <a:srgbClr val="0F1115"/>
                </a:solidFill>
                <a:effectLst/>
                <a:latin typeface="quote-cjk-patch"/>
              </a:rPr>
              <a:t>Постоянная</a:t>
            </a:r>
            <a:r>
              <a:rPr lang="en-US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800" b="1" i="0" dirty="0" err="1" smtClean="0">
                <a:solidFill>
                  <a:srgbClr val="0F1115"/>
                </a:solidFill>
                <a:effectLst/>
                <a:latin typeface="quote-cjk-patch"/>
              </a:rPr>
              <a:t>память</a:t>
            </a:r>
            <a:r>
              <a:rPr lang="en-US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 (ПЗУ — Read-Only Memory, ROM)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00649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21323" y="248335"/>
            <a:ext cx="42935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Масковые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ПЗУ: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Записываются один раз при изготовлении.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22" y="894666"/>
            <a:ext cx="2183179" cy="175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73615" y="2592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PROM (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Programmable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ROM):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Пользователь может записать данные один раз с помощью программатора.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239" y="993173"/>
            <a:ext cx="3159126" cy="165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21323" y="3248516"/>
            <a:ext cx="434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EPROM (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Erasable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PROM):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Стирается ультрафиолетовым излучением.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38" y="4316282"/>
            <a:ext cx="1670309" cy="14850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5408" y="4333125"/>
            <a:ext cx="2118816" cy="14682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151928" y="3212006"/>
            <a:ext cx="5471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SSD и </a:t>
            </a:r>
            <a:r>
              <a:rPr lang="ru-RU" b="1" dirty="0" err="1"/>
              <a:t>флеш</a:t>
            </a:r>
            <a:r>
              <a:rPr lang="ru-RU" b="1" dirty="0"/>
              <a:t>-накопители:</a:t>
            </a:r>
            <a:r>
              <a:rPr lang="ru-RU" dirty="0"/>
              <a:t> По сути, построены на основе энергонезависимой </a:t>
            </a:r>
            <a:r>
              <a:rPr lang="ru-RU" dirty="0" err="1"/>
              <a:t>флеш</a:t>
            </a:r>
            <a:r>
              <a:rPr lang="ru-RU" dirty="0"/>
              <a:t>-памяти (NAND).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594" y="4443542"/>
            <a:ext cx="2066640" cy="1357833"/>
          </a:xfrm>
          <a:prstGeom prst="rect">
            <a:avLst/>
          </a:prstGeom>
        </p:spPr>
      </p:pic>
      <p:pic>
        <p:nvPicPr>
          <p:cNvPr id="1036" name="Picture 12" descr="Picture backgrou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866" y="4506755"/>
            <a:ext cx="1932268" cy="129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56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5383" y="343879"/>
            <a:ext cx="83468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2. Оперативная память (ОЗУ — 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Random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Access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Memory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, RAM)</a:t>
            </a:r>
            <a:endParaRPr lang="en-US" b="1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Принцип: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Быстрая, энергозависимая память. Все данные стираются при отключении питания.</a:t>
            </a:r>
            <a:endParaRPr lang="en-US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Предназначение: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Временное хранение данных и инструкций, с которыми процессор работает 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сейчас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7024" y="2444454"/>
            <a:ext cx="54717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Технические виды:</a:t>
            </a:r>
            <a:endParaRPr lang="en-US" b="1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 smtClean="0">
                <a:solidFill>
                  <a:srgbClr val="0F1115"/>
                </a:solidFill>
                <a:effectLst/>
                <a:latin typeface="quote-cjk-patch"/>
              </a:rPr>
              <a:t>  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DRAM (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Dynamic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RAM):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Более дешевая и плотная. Требует постоянной регенерации (обновления) данных. Это — 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оперативная память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в ПК (DDR3, DDR4, DDR5).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44307" y="299845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SRAM (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Static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RAM):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Более быстрая и дорогая. Не требует регенерации. Используется в небольших объемах как 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кэш-память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 процессора.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254" y="4337279"/>
            <a:ext cx="2691169" cy="187244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076" y="4337279"/>
            <a:ext cx="3194461" cy="193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8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795" y="435921"/>
            <a:ext cx="7592485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6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72053" y="1769323"/>
            <a:ext cx="971843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Внешняя память (или долговременное запоминающее устройство — ДЗУ)</a:t>
            </a:r>
            <a:endParaRPr lang="en-US" sz="2800" b="1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 Принцип:</a:t>
            </a:r>
            <a:r>
              <a:rPr lang="ru-RU" sz="2400" b="0" i="0" dirty="0" smtClean="0">
                <a:solidFill>
                  <a:srgbClr val="0F1115"/>
                </a:solidFill>
                <a:effectLst/>
                <a:latin typeface="quote-cjk-patch"/>
              </a:rPr>
              <a:t> Энергонезависимая память большой емкости для постоянного хранения данных (файлов, программ, ОС).</a:t>
            </a:r>
            <a:endParaRPr lang="en-US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 Предназначение:</a:t>
            </a:r>
            <a:r>
              <a:rPr lang="ru-RU" sz="2400" b="0" i="0" dirty="0" smtClean="0">
                <a:solidFill>
                  <a:srgbClr val="0F1115"/>
                </a:solidFill>
                <a:effectLst/>
                <a:latin typeface="quote-cjk-patch"/>
              </a:rPr>
              <a:t> Массовое хранение информации.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16336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91" y="1256583"/>
            <a:ext cx="2684340" cy="225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377784" y="633018"/>
            <a:ext cx="2683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Жесткие диски (HDD)</a:t>
            </a:r>
            <a:endParaRPr lang="en-US" b="1" i="0" dirty="0" smtClean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5124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814" y="1107197"/>
            <a:ext cx="3785804" cy="251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6848005" y="566582"/>
            <a:ext cx="4167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ts val="18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Т</a:t>
            </a:r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вердотельные 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накопители (SSD)</a:t>
            </a:r>
            <a:endParaRPr lang="ru-RU" dirty="0"/>
          </a:p>
        </p:txBody>
      </p:sp>
      <p:pic>
        <p:nvPicPr>
          <p:cNvPr id="5126" name="Picture 6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70" y="4167554"/>
            <a:ext cx="3679581" cy="245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84497" y="3798222"/>
            <a:ext cx="4277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О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птические диски (CD/DVD/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Blu-ray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en-US" b="1" i="0" dirty="0" smtClean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5128" name="Picture 8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780" y="4167554"/>
            <a:ext cx="3349870" cy="243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955437" y="3743738"/>
            <a:ext cx="3952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М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агнитные ленты, 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флеш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-карты.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80918" y="79020"/>
            <a:ext cx="239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Технические виды: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92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0936" y="334080"/>
            <a:ext cx="33911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0" dirty="0" smtClean="0">
                <a:solidFill>
                  <a:srgbClr val="0F1115"/>
                </a:solidFill>
                <a:effectLst/>
                <a:latin typeface="quote-cjk-patch"/>
              </a:rPr>
              <a:t>Что такое </a:t>
            </a:r>
            <a:r>
              <a:rPr lang="en-US" sz="3200" b="1" i="0" dirty="0" smtClean="0">
                <a:solidFill>
                  <a:srgbClr val="0F1115"/>
                </a:solidFill>
                <a:effectLst/>
                <a:latin typeface="quote-cjk-patch"/>
              </a:rPr>
              <a:t>HDD?</a:t>
            </a: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80936" y="1033619"/>
            <a:ext cx="1082333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Определение:</a:t>
            </a:r>
            <a:r>
              <a:rPr lang="ru-RU" sz="2400" b="0" i="0" dirty="0" smtClean="0">
                <a:solidFill>
                  <a:srgbClr val="0F1115"/>
                </a:solidFill>
                <a:effectLst/>
                <a:latin typeface="quote-cjk-patch"/>
              </a:rPr>
              <a:t> HDD — это электромеханическое устройство для долговременного хранения данных на магнитных пластинах.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 Ключевые характеристики:</a:t>
            </a:r>
            <a:endParaRPr lang="ru-RU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b="1" i="0" dirty="0" err="1" smtClean="0">
                <a:solidFill>
                  <a:srgbClr val="0F1115"/>
                </a:solidFill>
                <a:effectLst/>
                <a:latin typeface="quote-cjk-patch"/>
              </a:rPr>
              <a:t>Энергонезависимость</a:t>
            </a: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2400" b="0" i="0" dirty="0" smtClean="0">
                <a:solidFill>
                  <a:srgbClr val="0F1115"/>
                </a:solidFill>
                <a:effectLst/>
                <a:latin typeface="quote-cjk-patch"/>
              </a:rPr>
              <a:t> Данные не стираются без питания.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Большая емкость:</a:t>
            </a:r>
            <a:r>
              <a:rPr lang="ru-RU" sz="2400" b="0" i="0" dirty="0" smtClean="0">
                <a:solidFill>
                  <a:srgbClr val="0F1115"/>
                </a:solidFill>
                <a:effectLst/>
                <a:latin typeface="quote-cjk-patch"/>
              </a:rPr>
              <a:t> От десятков ГБ до десятков ТБ.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Низкая стоимость</a:t>
            </a:r>
            <a:r>
              <a:rPr lang="ru-RU" sz="2400" b="0" i="0" dirty="0" smtClean="0">
                <a:solidFill>
                  <a:srgbClr val="0F1115"/>
                </a:solidFill>
                <a:effectLst/>
                <a:latin typeface="quote-cjk-patch"/>
              </a:rPr>
              <a:t> за гигабайт (по сравнению с SSD).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4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b="1" i="0" dirty="0" smtClean="0">
                <a:solidFill>
                  <a:srgbClr val="0F1115"/>
                </a:solidFill>
                <a:effectLst/>
                <a:latin typeface="quote-cjk-patch"/>
              </a:rPr>
              <a:t>Ограничения:</a:t>
            </a:r>
            <a:r>
              <a:rPr lang="ru-RU" sz="2400" b="0" i="0" dirty="0" smtClean="0">
                <a:solidFill>
                  <a:srgbClr val="0F1115"/>
                </a:solidFill>
                <a:effectLst/>
                <a:latin typeface="quote-cjk-patch"/>
              </a:rPr>
              <a:t> Чувствительность к ударам, шум, более низкая скорость, чем у SSD.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3580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79876" y="589084"/>
            <a:ext cx="4614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Историческая справка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50631" y="1119611"/>
            <a:ext cx="1106072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1956: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 Первый коммерческий HDD — </a:t>
            </a: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IBM 305 RAMAC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. Емкость 5 МБ, размер с два холодильника.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8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1973: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 Первый "винчестер" в современном понимании — </a:t>
            </a: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IBM 3340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. Кодовое название проекта — «Винчестер» (как винтовка калибра .30). Это название стало нарицательным в СССР и России.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800" b="1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1980-е: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 Появление форматов </a:t>
            </a:r>
            <a:r>
              <a:rPr lang="en-US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.5" и 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5.25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" для ПК.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800" b="1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1990-2000-е: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 Бурный рост плотности записи, появление интерфейсов SATA, падение цен.</a:t>
            </a:r>
            <a:endParaRPr lang="ru-RU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679992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666074" y="342816"/>
            <a:ext cx="2515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HDD — IBM 305 RAMAC</a:t>
            </a:r>
            <a:endParaRPr lang="ru-RU" b="1" dirty="0"/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876" y="729761"/>
            <a:ext cx="3139214" cy="2417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797" y="835267"/>
            <a:ext cx="3102965" cy="24178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754809" y="360317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0F1115"/>
                </a:solidFill>
                <a:effectLst/>
                <a:latin typeface="quote-cjk-patch"/>
              </a:rPr>
              <a:t>IBM 3340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666074" y="3709403"/>
            <a:ext cx="3246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0F1115"/>
                </a:solidFill>
                <a:latin typeface="quote-cjk-patch"/>
              </a:rPr>
              <a:t>формат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ы</a:t>
            </a: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dirty="0"/>
              <a:t>5.25" и </a:t>
            </a:r>
            <a:r>
              <a:rPr lang="ru-RU" dirty="0" smtClean="0"/>
              <a:t>3.5“</a:t>
            </a:r>
            <a:r>
              <a:rPr lang="en-US" dirty="0" smtClean="0"/>
              <a:t> </a:t>
            </a: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для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ПК.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876" y="4193035"/>
            <a:ext cx="3760543" cy="228602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240303" y="3709403"/>
            <a:ext cx="3456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появление интерфейсов SATA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548" y="4184241"/>
            <a:ext cx="3667214" cy="229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3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0231" y="228573"/>
            <a:ext cx="10489815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 </a:t>
            </a:r>
            <a:r>
              <a:rPr lang="ru-RU" sz="3200" b="1" dirty="0" smtClean="0"/>
              <a:t>Ключевые характеристики </a:t>
            </a:r>
            <a:r>
              <a:rPr lang="en-US" sz="3200" b="1" dirty="0" smtClean="0"/>
              <a:t>HDD</a:t>
            </a:r>
            <a:r>
              <a:rPr lang="ru-RU" sz="3200" b="1" dirty="0" smtClean="0"/>
              <a:t>:</a:t>
            </a:r>
          </a:p>
          <a:p>
            <a:endParaRPr lang="ru-RU" b="1" dirty="0" smtClean="0"/>
          </a:p>
          <a:p>
            <a:r>
              <a:rPr lang="ru-RU" sz="2400" b="1" dirty="0" smtClean="0"/>
              <a:t>Ёмкость</a:t>
            </a:r>
            <a:r>
              <a:rPr lang="ru-RU" sz="2400" dirty="0" smtClean="0"/>
              <a:t> (ГБ, ТБ).</a:t>
            </a:r>
            <a:endParaRPr lang="ru-RU" sz="2400" b="1" dirty="0" smtClean="0"/>
          </a:p>
          <a:p>
            <a:endParaRPr lang="ru-RU" sz="2400" b="1" dirty="0" smtClean="0"/>
          </a:p>
          <a:p>
            <a:r>
              <a:rPr lang="ru-RU" sz="2400" b="1" dirty="0" smtClean="0"/>
              <a:t>Скорость вращения шпинделя</a:t>
            </a:r>
            <a:r>
              <a:rPr lang="ru-RU" sz="2400" dirty="0" smtClean="0"/>
              <a:t> (RPM): 5400, 7200, 10000, 15000.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Объем буфера (кэша)</a:t>
            </a:r>
            <a:r>
              <a:rPr lang="ru-RU" sz="2400" dirty="0" smtClean="0"/>
              <a:t> (МБ): Быстрая память на контроллере для временного хранения данных.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Скорость интерфейса:</a:t>
            </a:r>
            <a:r>
              <a:rPr lang="ru-RU" sz="2400" dirty="0" smtClean="0"/>
              <a:t> SATA III (6 Гбит/с), SAS.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Скорость последовательного чтения/записи</a:t>
            </a:r>
            <a:r>
              <a:rPr lang="ru-RU" sz="2400" dirty="0" smtClean="0"/>
              <a:t> (МБ/с).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Время произвольного доступа</a:t>
            </a:r>
            <a:r>
              <a:rPr lang="ru-RU" sz="2400" dirty="0" smtClean="0"/>
              <a:t> (</a:t>
            </a:r>
            <a:r>
              <a:rPr lang="ru-RU" sz="2400" dirty="0" err="1" smtClean="0"/>
              <a:t>мс</a:t>
            </a:r>
            <a:r>
              <a:rPr lang="ru-RU" sz="2400" dirty="0" smtClean="0"/>
              <a:t>): Время, за которое головка найдет нужный сектор.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1937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896815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3024470" y="312040"/>
            <a:ext cx="62325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/>
              <a:t>Устройство жесткого диска (схема)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6900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40777" y="685800"/>
            <a:ext cx="107090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i="0" dirty="0" smtClean="0">
                <a:solidFill>
                  <a:srgbClr val="0F1115"/>
                </a:solidFill>
                <a:effectLst/>
                <a:latin typeface="quote-cjk-patch"/>
              </a:rPr>
              <a:t>Современное положение и будущее</a:t>
            </a:r>
            <a:endParaRPr lang="ru-RU" sz="32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200" b="1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i="0" dirty="0" smtClean="0">
                <a:solidFill>
                  <a:srgbClr val="0F1115"/>
                </a:solidFill>
                <a:effectLst/>
                <a:latin typeface="quote-cjk-patch"/>
              </a:rPr>
              <a:t>Конкурент — SSD:</a:t>
            </a:r>
            <a:r>
              <a:rPr lang="ru-RU" sz="3200" b="0" i="0" dirty="0" smtClean="0">
                <a:solidFill>
                  <a:srgbClr val="0F1115"/>
                </a:solidFill>
                <a:effectLst/>
                <a:latin typeface="quote-cjk-patch"/>
              </a:rPr>
              <a:t> Вытесняет HDD из сегмента скоростных систем (ноутбуки, системные диски).</a:t>
            </a:r>
            <a:endParaRPr lang="en-US" sz="32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32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i="0" dirty="0" smtClean="0">
                <a:solidFill>
                  <a:srgbClr val="0F1115"/>
                </a:solidFill>
                <a:effectLst/>
                <a:latin typeface="quote-cjk-patch"/>
              </a:rPr>
              <a:t>Ниша HDD:</a:t>
            </a:r>
            <a:r>
              <a:rPr lang="ru-RU" sz="3200" b="0" i="0" dirty="0" smtClean="0">
                <a:solidFill>
                  <a:srgbClr val="0F1115"/>
                </a:solidFill>
                <a:effectLst/>
                <a:latin typeface="quote-cjk-patch"/>
              </a:rPr>
              <a:t> Массивы хранения больших данных (NAS, серверы, дата-центры), архивное хранение, бюджетные ПК — там, где важны </a:t>
            </a:r>
            <a:r>
              <a:rPr lang="ru-RU" sz="3200" b="1" i="0" dirty="0" smtClean="0">
                <a:solidFill>
                  <a:srgbClr val="0F1115"/>
                </a:solidFill>
                <a:effectLst/>
                <a:latin typeface="quote-cjk-patch"/>
              </a:rPr>
              <a:t>емкость и цена</a:t>
            </a:r>
            <a:r>
              <a:rPr lang="ru-RU" sz="3200" b="0" i="0" dirty="0" smtClean="0">
                <a:solidFill>
                  <a:srgbClr val="0F1115"/>
                </a:solidFill>
                <a:effectLst/>
                <a:latin typeface="quote-cjk-patch"/>
              </a:rPr>
              <a:t> за гигабайт.</a:t>
            </a:r>
            <a:endParaRPr lang="ru-RU" sz="3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04233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00099" y="439615"/>
            <a:ext cx="10884877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0" dirty="0" smtClean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  <a:endParaRPr lang="en-US" sz="4000" b="1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 algn="ctr"/>
            <a:endParaRPr lang="ru-RU" sz="40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HDD — проверенная, надежная и экономичная технология для хранения огромных объемов информации.</a:t>
            </a:r>
            <a:endParaRPr lang="en-US" sz="28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28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Несмотря на рост популярности SSD, HDD еще долго будут занимать свою важную нишу в индустрии хранения данных.</a:t>
            </a:r>
            <a:endParaRPr lang="en-US" sz="28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2800" b="0" i="0" dirty="0" smtClean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i="0" dirty="0" smtClean="0">
                <a:solidFill>
                  <a:srgbClr val="0F1115"/>
                </a:solidFill>
                <a:effectLst/>
                <a:latin typeface="quote-cjk-patch"/>
              </a:rPr>
              <a:t>Фраза на будущее: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 "HDD мертв" — это преждевременно. Он эволюционирует, становясь "холодным" и "емким" хранилищем в эпоху </a:t>
            </a:r>
            <a:r>
              <a:rPr lang="ru-RU" sz="2800" b="0" i="0" dirty="0" err="1" smtClean="0">
                <a:solidFill>
                  <a:srgbClr val="0F1115"/>
                </a:solidFill>
                <a:effectLst/>
                <a:latin typeface="quote-cjk-patch"/>
              </a:rPr>
              <a:t>Big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2800" b="0" i="0" dirty="0" err="1" smtClean="0">
                <a:solidFill>
                  <a:srgbClr val="0F1115"/>
                </a:solidFill>
                <a:effectLst/>
                <a:latin typeface="quote-cjk-patch"/>
              </a:rPr>
              <a:t>Data</a:t>
            </a:r>
            <a:r>
              <a:rPr lang="ru-RU" sz="2800" b="0" i="0" dirty="0" smtClean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9256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19970" y="2664042"/>
            <a:ext cx="787529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i="0" dirty="0" smtClean="0">
                <a:solidFill>
                  <a:srgbClr val="0F1115"/>
                </a:solidFill>
                <a:effectLst/>
                <a:latin typeface="quote-cjk-patch"/>
              </a:rPr>
              <a:t>Спасибо за внимание!</a:t>
            </a:r>
            <a:endParaRPr lang="ru-RU" sz="5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3282"/>
            <a:ext cx="1457138" cy="12947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4114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203</Words>
  <Application>Microsoft Office PowerPoint</Application>
  <PresentationFormat>Широкоэкранный</PresentationFormat>
  <Paragraphs>79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quote-cjk-patch</vt:lpstr>
      <vt:lpstr>Тема Office</vt:lpstr>
      <vt:lpstr>Виды Памяти</vt:lpstr>
      <vt:lpstr>Компьютерную память принято делить на два основных вида по принципу энергозависимости и назначению.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Виды Памяти</dc:title>
  <dc:creator>Михаил</dc:creator>
  <cp:lastModifiedBy>Михаил</cp:lastModifiedBy>
  <cp:revision>7</cp:revision>
  <dcterms:created xsi:type="dcterms:W3CDTF">2025-12-16T14:22:45Z</dcterms:created>
  <dcterms:modified xsi:type="dcterms:W3CDTF">2025-12-16T15:18:08Z</dcterms:modified>
</cp:coreProperties>
</file>