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71" r:id="rId9"/>
    <p:sldId id="263" r:id="rId10"/>
    <p:sldId id="264" r:id="rId11"/>
    <p:sldId id="266" r:id="rId12"/>
    <p:sldId id="265" r:id="rId13"/>
    <p:sldId id="269" r:id="rId14"/>
    <p:sldId id="267" r:id="rId15"/>
    <p:sldId id="270" r:id="rId16"/>
    <p:sldId id="268" r:id="rId17"/>
    <p:sldId id="272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DAC55-243B-4DD0-96B3-C792AAD29FA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40C4-6D7C-40A5-94A2-81DA6CA73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06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DAC55-243B-4DD0-96B3-C792AAD29FA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40C4-6D7C-40A5-94A2-81DA6CA73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20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DAC55-243B-4DD0-96B3-C792AAD29FA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40C4-6D7C-40A5-94A2-81DA6CA73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066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DAC55-243B-4DD0-96B3-C792AAD29FA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40C4-6D7C-40A5-94A2-81DA6CA73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671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DAC55-243B-4DD0-96B3-C792AAD29FA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40C4-6D7C-40A5-94A2-81DA6CA73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931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DAC55-243B-4DD0-96B3-C792AAD29FA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40C4-6D7C-40A5-94A2-81DA6CA73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27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DAC55-243B-4DD0-96B3-C792AAD29FA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40C4-6D7C-40A5-94A2-81DA6CA73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438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DAC55-243B-4DD0-96B3-C792AAD29FA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40C4-6D7C-40A5-94A2-81DA6CA73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710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DAC55-243B-4DD0-96B3-C792AAD29FA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40C4-6D7C-40A5-94A2-81DA6CA73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95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DAC55-243B-4DD0-96B3-C792AAD29FA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40C4-6D7C-40A5-94A2-81DA6CA73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732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DAC55-243B-4DD0-96B3-C792AAD29FA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340C4-6D7C-40A5-94A2-81DA6CA73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8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DAC55-243B-4DD0-96B3-C792AAD29FAA}" type="datetimeFigureOut">
              <a:rPr lang="ru-RU" smtClean="0"/>
              <a:t>05.02.2026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340C4-6D7C-40A5-94A2-81DA6CA736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212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5461" y="629994"/>
            <a:ext cx="10961077" cy="2387600"/>
          </a:xfrm>
        </p:spPr>
        <p:txBody>
          <a:bodyPr/>
          <a:lstStyle/>
          <a:p>
            <a:r>
              <a:rPr lang="ru-RU" b="1" dirty="0"/>
              <a:t>Управление паролями и </a:t>
            </a:r>
            <a:r>
              <a:rPr lang="ru-RU" b="1" dirty="0" smtClean="0"/>
              <a:t>доступом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61492" y="3716338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ИПо9581 </a:t>
            </a:r>
            <a:r>
              <a:rPr lang="ru-RU" sz="36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Лехман.М</a:t>
            </a:r>
            <a:r>
              <a:rPr lang="ru-RU" sz="3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  <a:endParaRPr lang="ru-RU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962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/>
              <a:t>Управление </a:t>
            </a:r>
            <a:r>
              <a:rPr lang="ru-RU" sz="3600" b="1" dirty="0"/>
              <a:t>паролями и </a:t>
            </a:r>
            <a:r>
              <a:rPr lang="ru-RU" sz="3600" b="1" dirty="0" smtClean="0"/>
              <a:t>доступом важно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6331" y="1781663"/>
            <a:ext cx="10946423" cy="4351338"/>
          </a:xfrm>
        </p:spPr>
        <p:txBody>
          <a:bodyPr/>
          <a:lstStyle/>
          <a:p>
            <a:r>
              <a:rPr lang="ru-RU" sz="3600" dirty="0"/>
              <a:t>Статистика: "80% утечек данных связаны со слабыми или скомпрометированными учетными данными" (по данным </a:t>
            </a:r>
            <a:r>
              <a:rPr lang="ru-RU" sz="3600" dirty="0" err="1"/>
              <a:t>Verizon</a:t>
            </a:r>
            <a:r>
              <a:rPr lang="ru-RU" sz="3600" dirty="0"/>
              <a:t> DBIR</a:t>
            </a:r>
            <a:r>
              <a:rPr lang="ru-RU" sz="3600" dirty="0" smtClean="0"/>
              <a:t>).</a:t>
            </a:r>
          </a:p>
          <a:p>
            <a:endParaRPr lang="en-US" sz="3600" dirty="0" smtClean="0"/>
          </a:p>
          <a:p>
            <a:r>
              <a:rPr lang="ru-RU" sz="3600" dirty="0" smtClean="0"/>
              <a:t>Самые </a:t>
            </a:r>
            <a:r>
              <a:rPr lang="ru-RU" sz="3600" dirty="0"/>
              <a:t>частые пароли</a:t>
            </a:r>
            <a:r>
              <a:rPr lang="ru-RU" sz="3600" dirty="0" smtClean="0"/>
              <a:t>: </a:t>
            </a:r>
            <a:r>
              <a:rPr lang="ru-RU" sz="3600" b="1" dirty="0" smtClean="0"/>
              <a:t>12345,</a:t>
            </a:r>
            <a:r>
              <a:rPr lang="en-US" sz="3600" b="1" dirty="0" smtClean="0"/>
              <a:t>password, qwerty , ”</a:t>
            </a:r>
            <a:r>
              <a:rPr lang="ru-RU" sz="3600" b="1" dirty="0" smtClean="0"/>
              <a:t>дата</a:t>
            </a:r>
            <a:r>
              <a:rPr lang="en-US" sz="3600" b="1" dirty="0" smtClean="0"/>
              <a:t> </a:t>
            </a:r>
            <a:r>
              <a:rPr lang="ru-RU" sz="3600" b="1" dirty="0" smtClean="0"/>
              <a:t>рождения</a:t>
            </a:r>
            <a:r>
              <a:rPr lang="en-US" sz="3600" b="1" dirty="0" smtClean="0"/>
              <a:t>”</a:t>
            </a:r>
            <a:endParaRPr lang="ru-RU" sz="3600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0235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такое управление доступом (IAM)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690688"/>
            <a:ext cx="10855569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IAM (</a:t>
            </a:r>
            <a:r>
              <a:rPr lang="ru-RU" b="1" dirty="0" err="1" smtClean="0"/>
              <a:t>Identity</a:t>
            </a:r>
            <a:r>
              <a:rPr lang="ru-RU" b="1" dirty="0" smtClean="0"/>
              <a:t> </a:t>
            </a:r>
            <a:r>
              <a:rPr lang="ru-RU" b="1" dirty="0" err="1"/>
              <a:t>and</a:t>
            </a:r>
            <a:r>
              <a:rPr lang="ru-RU" b="1" dirty="0"/>
              <a:t> </a:t>
            </a:r>
            <a:r>
              <a:rPr lang="ru-RU" b="1" dirty="0" err="1"/>
              <a:t>Access</a:t>
            </a:r>
            <a:r>
              <a:rPr lang="ru-RU" b="1" dirty="0"/>
              <a:t> </a:t>
            </a:r>
            <a:r>
              <a:rPr lang="ru-RU" b="1" dirty="0" err="1"/>
              <a:t>Management</a:t>
            </a:r>
            <a:r>
              <a:rPr lang="ru-RU" b="1" dirty="0"/>
              <a:t>)</a:t>
            </a:r>
            <a:r>
              <a:rPr lang="ru-RU" dirty="0"/>
              <a:t> — </a:t>
            </a:r>
            <a:r>
              <a:rPr lang="ru-RU" b="1" dirty="0"/>
              <a:t>система управления идентификацией и доступом</a:t>
            </a:r>
            <a:r>
              <a:rPr lang="ru-RU" dirty="0"/>
              <a:t>. Это совокупность технологий, операций, методов и политик для управления доступом пользователей к инфраструктуре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ru-RU" sz="1600" dirty="0" smtClean="0">
                <a:solidFill>
                  <a:schemeClr val="bg2">
                    <a:lumMod val="75000"/>
                  </a:schemeClr>
                </a:solidFill>
              </a:rPr>
              <a:t>это </a:t>
            </a:r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процессы и технологии для управления цифровыми </a:t>
            </a:r>
            <a:r>
              <a:rPr lang="ru-RU" sz="1600" dirty="0" err="1">
                <a:solidFill>
                  <a:schemeClr val="bg2">
                    <a:lumMod val="75000"/>
                  </a:schemeClr>
                </a:solidFill>
              </a:rPr>
              <a:t>идентификатами</a:t>
            </a:r>
            <a:r>
              <a:rPr lang="ru-RU" sz="1600" dirty="0">
                <a:solidFill>
                  <a:schemeClr val="bg2">
                    <a:lumMod val="75000"/>
                  </a:schemeClr>
                </a:solidFill>
              </a:rPr>
              <a:t> (пользователями) и их правами внутри системы</a:t>
            </a:r>
            <a:r>
              <a:rPr lang="ru-RU" sz="1600" dirty="0" smtClean="0">
                <a:solidFill>
                  <a:schemeClr val="bg2">
                    <a:lumMod val="75000"/>
                  </a:schemeClr>
                </a:solidFill>
              </a:rPr>
              <a:t>.</a:t>
            </a:r>
            <a:endParaRPr lang="en-US" sz="1600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ru-RU" b="1" dirty="0" smtClean="0"/>
              <a:t>Ключевые </a:t>
            </a:r>
            <a:r>
              <a:rPr lang="ru-RU" b="1" dirty="0"/>
              <a:t>понятия</a:t>
            </a:r>
            <a:r>
              <a:rPr lang="ru-RU" b="1" dirty="0" smtClean="0"/>
              <a:t>:</a:t>
            </a:r>
            <a:endParaRPr lang="en-US" b="1" dirty="0" smtClean="0"/>
          </a:p>
          <a:p>
            <a:pPr marL="0" indent="0">
              <a:buNone/>
            </a:pPr>
            <a:endParaRPr lang="ru-RU" dirty="0"/>
          </a:p>
          <a:p>
            <a:pPr lvl="1"/>
            <a:r>
              <a:rPr lang="ru-RU" b="1" dirty="0"/>
              <a:t>Идентификация:</a:t>
            </a:r>
            <a:r>
              <a:rPr lang="ru-RU" dirty="0"/>
              <a:t> "Я — Петр Иванов" (логин).</a:t>
            </a:r>
          </a:p>
          <a:p>
            <a:pPr lvl="1"/>
            <a:r>
              <a:rPr lang="ru-RU" b="1" dirty="0"/>
              <a:t>Аутентификация:</a:t>
            </a:r>
            <a:r>
              <a:rPr lang="ru-RU" dirty="0"/>
              <a:t> "Доказываю, что это я" (пароль, отпечаток, </a:t>
            </a:r>
            <a:r>
              <a:rPr lang="ru-RU" dirty="0" err="1"/>
              <a:t>токен</a:t>
            </a:r>
            <a:r>
              <a:rPr lang="ru-RU" dirty="0"/>
              <a:t>).</a:t>
            </a:r>
          </a:p>
          <a:p>
            <a:pPr lvl="1"/>
            <a:r>
              <a:rPr lang="ru-RU" b="1" dirty="0"/>
              <a:t>Авторизация:</a:t>
            </a:r>
            <a:r>
              <a:rPr lang="ru-RU" dirty="0"/>
              <a:t> "Мне разрешено просматривать этот отчет" (права).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3366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Эволюция аутентификации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Три </a:t>
            </a:r>
            <a:r>
              <a:rPr lang="ru-RU" dirty="0" smtClean="0"/>
              <a:t>стадии эволюции </a:t>
            </a:r>
            <a:r>
              <a:rPr lang="ru-RU" dirty="0"/>
              <a:t>аутентификации</a:t>
            </a:r>
            <a:r>
              <a:rPr lang="ru-RU" dirty="0" smtClean="0"/>
              <a:t>:</a:t>
            </a:r>
          </a:p>
          <a:p>
            <a:pPr marL="0" indent="0">
              <a:buNone/>
            </a:pPr>
            <a:endParaRPr lang="ru-RU" b="1" dirty="0" smtClean="0"/>
          </a:p>
          <a:p>
            <a:pPr marL="0" indent="0">
              <a:buNone/>
            </a:pPr>
            <a:r>
              <a:rPr lang="ru-RU" b="1" dirty="0" smtClean="0"/>
              <a:t>1.Что-то</a:t>
            </a:r>
            <a:r>
              <a:rPr lang="ru-RU" b="1" dirty="0"/>
              <a:t>, что вы ЗНАЕТЕ</a:t>
            </a:r>
            <a:r>
              <a:rPr lang="ru-RU" dirty="0"/>
              <a:t> (пароль,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PIN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b="1" dirty="0" smtClean="0"/>
              <a:t>2.Что-то</a:t>
            </a:r>
            <a:r>
              <a:rPr lang="ru-RU" b="1" dirty="0"/>
              <a:t>, что у вас ЕСТЬ</a:t>
            </a:r>
            <a:r>
              <a:rPr lang="ru-RU" dirty="0"/>
              <a:t> (телефон для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SMS</a:t>
            </a:r>
            <a:r>
              <a:rPr lang="ru-RU" dirty="0"/>
              <a:t>, </a:t>
            </a:r>
            <a:r>
              <a:rPr lang="ru-RU" dirty="0" err="1"/>
              <a:t>токен</a:t>
            </a:r>
            <a:r>
              <a:rPr lang="ru-RU" dirty="0"/>
              <a:t>, ключ-брелок).</a:t>
            </a:r>
          </a:p>
          <a:p>
            <a:pPr marL="0" indent="0">
              <a:buNone/>
            </a:pPr>
            <a:r>
              <a:rPr lang="ru-RU" b="1" dirty="0" smtClean="0"/>
              <a:t>3.Что-то</a:t>
            </a:r>
            <a:r>
              <a:rPr lang="ru-RU" b="1" dirty="0"/>
              <a:t>, что вы ПРЕДСТАВЛЯЕТЕ</a:t>
            </a:r>
            <a:r>
              <a:rPr lang="ru-RU" dirty="0"/>
              <a:t> (отпечаток пальца, лицо, голос</a:t>
            </a:r>
            <a:r>
              <a:rPr lang="ru-RU" dirty="0" smtClean="0"/>
              <a:t>).</a:t>
            </a:r>
          </a:p>
          <a:p>
            <a:pPr marL="0" indent="0">
              <a:buNone/>
            </a:pPr>
            <a:r>
              <a:rPr lang="ru-RU" dirty="0"/>
              <a:t> 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Один </a:t>
            </a:r>
            <a:r>
              <a:rPr lang="ru-RU" dirty="0"/>
              <a:t>фактор (пароль) — ненадежно. Нужно минимум два (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MFA</a:t>
            </a:r>
            <a:r>
              <a:rPr lang="ru-RU" dirty="0"/>
              <a:t>/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2FA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400743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Три стадии эволюции аутентификации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9213" y="1509240"/>
            <a:ext cx="6589811" cy="461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64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3708" y="0"/>
            <a:ext cx="10515600" cy="1325563"/>
          </a:xfrm>
        </p:spPr>
        <p:txBody>
          <a:bodyPr/>
          <a:lstStyle/>
          <a:p>
            <a:r>
              <a:rPr lang="ru-RU" dirty="0" smtClean="0"/>
              <a:t>Пример двух факторной аутентификации</a:t>
            </a:r>
            <a:endParaRPr lang="ru-RU" dirty="0"/>
          </a:p>
        </p:txBody>
      </p:sp>
      <p:pic>
        <p:nvPicPr>
          <p:cNvPr id="2050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734" y="1116622"/>
            <a:ext cx="9396655" cy="491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033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accent6"/>
                </a:solidFill>
              </a:rPr>
              <a:t>Хорошие</a:t>
            </a:r>
            <a:r>
              <a:rPr lang="ru-RU" b="1" dirty="0" smtClean="0"/>
              <a:t> и </a:t>
            </a:r>
            <a:r>
              <a:rPr lang="ru-RU" b="1" dirty="0" smtClean="0">
                <a:solidFill>
                  <a:srgbClr val="C00000"/>
                </a:solidFill>
              </a:rPr>
              <a:t>Плохие</a:t>
            </a:r>
            <a:r>
              <a:rPr lang="ru-RU" b="1" dirty="0" smtClean="0"/>
              <a:t> пароли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76764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b="1" dirty="0">
                <a:solidFill>
                  <a:srgbClr val="C00000"/>
                </a:solidFill>
              </a:rPr>
              <a:t>Плохие</a:t>
            </a:r>
            <a:r>
              <a:rPr lang="ru-RU" sz="3600" b="1" dirty="0"/>
              <a:t> практики</a:t>
            </a:r>
            <a:r>
              <a:rPr lang="ru-RU" sz="3600" b="1" dirty="0" smtClean="0"/>
              <a:t>:</a:t>
            </a:r>
          </a:p>
          <a:p>
            <a:pPr marL="0" indent="0">
              <a:buNone/>
            </a:pPr>
            <a:r>
              <a:rPr lang="ru-RU" sz="3600" dirty="0"/>
              <a:t> </a:t>
            </a:r>
            <a:r>
              <a:rPr lang="ru-RU" sz="3600" dirty="0" smtClean="0"/>
              <a:t>Короткие</a:t>
            </a:r>
            <a:r>
              <a:rPr lang="ru-RU" sz="3600" dirty="0"/>
              <a:t>, </a:t>
            </a:r>
            <a:r>
              <a:rPr lang="ru-RU" sz="3600" dirty="0" smtClean="0"/>
              <a:t>словарные </a:t>
            </a:r>
            <a:r>
              <a:rPr lang="ru-RU" sz="3600" dirty="0"/>
              <a:t>слова, повторение </a:t>
            </a:r>
            <a:r>
              <a:rPr lang="ru-RU" sz="3600" dirty="0" smtClean="0"/>
              <a:t>паролей.</a:t>
            </a:r>
          </a:p>
          <a:p>
            <a:pPr marL="0" indent="0">
              <a:buNone/>
            </a:pPr>
            <a:r>
              <a:rPr lang="ru-RU" sz="3600" b="1" dirty="0">
                <a:solidFill>
                  <a:schemeClr val="accent6"/>
                </a:solidFill>
              </a:rPr>
              <a:t>Хорошие </a:t>
            </a:r>
            <a:r>
              <a:rPr lang="ru-RU" sz="3600" b="1" dirty="0"/>
              <a:t>практики:</a:t>
            </a:r>
            <a:r>
              <a:rPr lang="ru-RU" sz="3600" dirty="0"/>
              <a:t> </a:t>
            </a:r>
            <a:endParaRPr lang="ru-RU" sz="3600" dirty="0" smtClean="0"/>
          </a:p>
          <a:p>
            <a:pPr marL="0" indent="0">
              <a:buNone/>
            </a:pPr>
            <a:r>
              <a:rPr lang="ru-RU" sz="3600" dirty="0" smtClean="0"/>
              <a:t>Длинные </a:t>
            </a:r>
            <a:r>
              <a:rPr lang="ru-RU" sz="3600" dirty="0"/>
              <a:t>(12+ символов), сложные (буквы разного регистра, цифры, спецсимволы), уникальные для каждого сервиса.</a:t>
            </a:r>
          </a:p>
          <a:p>
            <a:pPr marL="0" indent="0">
              <a:buNone/>
            </a:pPr>
            <a:endParaRPr lang="ru-RU" sz="3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463" y="3094893"/>
            <a:ext cx="594112" cy="55329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018" y="1825625"/>
            <a:ext cx="573406" cy="56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36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Учетные записи привилегированных пользователей (PAM)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 err="1"/>
              <a:t>Учетки</a:t>
            </a:r>
            <a:r>
              <a:rPr lang="ru-RU" sz="1800" dirty="0"/>
              <a:t> админов — "ключи от королевства". Требуют максимальной защиты</a:t>
            </a:r>
            <a:r>
              <a:rPr lang="ru-RU" sz="1800" dirty="0" smtClean="0"/>
              <a:t>.</a:t>
            </a:r>
          </a:p>
          <a:p>
            <a:r>
              <a:rPr lang="ru-RU" b="1" dirty="0"/>
              <a:t>PAM (</a:t>
            </a:r>
            <a:r>
              <a:rPr lang="ru-RU" b="1" dirty="0" err="1"/>
              <a:t>Privileged</a:t>
            </a:r>
            <a:r>
              <a:rPr lang="ru-RU" b="1" dirty="0"/>
              <a:t> </a:t>
            </a:r>
            <a:r>
              <a:rPr lang="ru-RU" b="1" dirty="0" err="1"/>
              <a:t>Access</a:t>
            </a:r>
            <a:r>
              <a:rPr lang="ru-RU" b="1" dirty="0"/>
              <a:t> </a:t>
            </a:r>
            <a:r>
              <a:rPr lang="ru-RU" b="1" dirty="0" err="1"/>
              <a:t>Management</a:t>
            </a:r>
            <a:r>
              <a:rPr lang="ru-RU" b="1" dirty="0"/>
              <a:t>)</a:t>
            </a:r>
            <a:r>
              <a:rPr lang="ru-RU" dirty="0"/>
              <a:t> — это система управления привилегированным доступом, которая контролирует и отслеживает доступы пользователей с расширенными правами к корпоративным ресурсам и критически важным данным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ru-RU" sz="2000" dirty="0" smtClean="0"/>
              <a:t>Пример:</a:t>
            </a:r>
            <a:endParaRPr lang="en-US" sz="2000" dirty="0"/>
          </a:p>
          <a:p>
            <a:r>
              <a:rPr lang="ru-RU" sz="2000" dirty="0" smtClean="0"/>
              <a:t>Обязательное </a:t>
            </a:r>
            <a:r>
              <a:rPr lang="ru-RU" sz="2000" dirty="0"/>
              <a:t>использование MFA.</a:t>
            </a:r>
          </a:p>
          <a:p>
            <a:r>
              <a:rPr lang="ru-RU" sz="2000" dirty="0"/>
              <a:t>Выделенные рабочие станции.</a:t>
            </a:r>
          </a:p>
          <a:p>
            <a:r>
              <a:rPr lang="ru-RU" sz="2000" dirty="0"/>
              <a:t>Сессионные записи и мониторинг.</a:t>
            </a:r>
          </a:p>
          <a:p>
            <a:r>
              <a:rPr lang="ru-RU" sz="2000" dirty="0"/>
              <a:t>Принцип JIT (</a:t>
            </a:r>
            <a:r>
              <a:rPr lang="ru-RU" sz="2000" dirty="0" err="1"/>
              <a:t>Just-In-Time</a:t>
            </a:r>
            <a:r>
              <a:rPr lang="ru-RU" sz="2000" dirty="0"/>
              <a:t>) — права выдаются на ограниченное время по запросу.</a:t>
            </a:r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991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Менеджеры паролей — ваша цифровая записная книжка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Менеджеры </a:t>
            </a:r>
            <a:r>
              <a:rPr lang="ru-RU" b="1" dirty="0" smtClean="0"/>
              <a:t>паролей - </a:t>
            </a:r>
            <a:r>
              <a:rPr lang="ru-RU" dirty="0"/>
              <a:t>специальная программа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(</a:t>
            </a:r>
            <a:r>
              <a:rPr lang="en-US" dirty="0" err="1"/>
              <a:t>LastPass</a:t>
            </a:r>
            <a:r>
              <a:rPr lang="en-US" dirty="0"/>
              <a:t>, </a:t>
            </a:r>
            <a:r>
              <a:rPr lang="en-US" dirty="0" err="1" smtClean="0"/>
              <a:t>Bitwarden</a:t>
            </a:r>
            <a:r>
              <a:rPr lang="en-US" dirty="0" smtClean="0"/>
              <a:t>, 1Password</a:t>
            </a:r>
            <a:r>
              <a:rPr lang="ru-RU" dirty="0" smtClean="0"/>
              <a:t>)</a:t>
            </a:r>
          </a:p>
          <a:p>
            <a:pPr marL="0" indent="0">
              <a:buNone/>
            </a:pPr>
            <a:r>
              <a:rPr lang="ru-RU" dirty="0" smtClean="0"/>
              <a:t>1 Генерация </a:t>
            </a:r>
            <a:r>
              <a:rPr lang="ru-RU" dirty="0"/>
              <a:t>и хранение сложных паролей.</a:t>
            </a:r>
          </a:p>
          <a:p>
            <a:pPr marL="0" indent="0">
              <a:buNone/>
            </a:pPr>
            <a:r>
              <a:rPr lang="ru-RU" dirty="0" smtClean="0"/>
              <a:t>2 </a:t>
            </a:r>
            <a:r>
              <a:rPr lang="ru-RU" dirty="0" err="1" smtClean="0"/>
              <a:t>Автозаполнение</a:t>
            </a:r>
            <a:r>
              <a:rPr lang="ru-RU" dirty="0" smtClean="0"/>
              <a:t> </a:t>
            </a:r>
            <a:r>
              <a:rPr lang="ru-RU" dirty="0"/>
              <a:t>форм (защита от </a:t>
            </a:r>
            <a:r>
              <a:rPr lang="ru-RU" dirty="0" err="1"/>
              <a:t>фишинга</a:t>
            </a:r>
            <a:r>
              <a:rPr lang="ru-RU" dirty="0"/>
              <a:t>).</a:t>
            </a:r>
          </a:p>
          <a:p>
            <a:pPr marL="0" indent="0">
              <a:buNone/>
            </a:pPr>
            <a:r>
              <a:rPr lang="ru-RU" dirty="0" smtClean="0"/>
              <a:t>3 Синхронизация </a:t>
            </a:r>
            <a:r>
              <a:rPr lang="ru-RU" dirty="0"/>
              <a:t>между устройствами.</a:t>
            </a:r>
          </a:p>
          <a:p>
            <a:pPr marL="0" indent="0">
              <a:buNone/>
            </a:pPr>
            <a:r>
              <a:rPr lang="ru-RU" dirty="0" smtClean="0"/>
              <a:t>4 Безопасное </a:t>
            </a:r>
            <a:r>
              <a:rPr lang="ru-RU" dirty="0"/>
              <a:t>хранение заметок.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074" name="Picture 2" descr="https://avatars.mds.yandex.net/get-entity_search/5581799/551767004/S600xU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636" y="5314520"/>
            <a:ext cx="2042502" cy="299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avatars.mds.yandex.net/get-entity_search/1938771/484361133/S600x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529" y="5144921"/>
            <a:ext cx="1172063" cy="74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i.pinimg.com/736x/9b/7e/8d/9b7e8d9a1b79fd5f6b6a37134e033ae9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475" y="4756316"/>
            <a:ext cx="2517287" cy="1415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969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интерфейса</a:t>
            </a:r>
            <a:endParaRPr lang="ru-RU" dirty="0"/>
          </a:p>
        </p:txBody>
      </p:sp>
      <p:pic>
        <p:nvPicPr>
          <p:cNvPr id="4098" name="Picture 2" descr="Picture backgroun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922" y="1415562"/>
            <a:ext cx="6771566" cy="499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986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868" y="991239"/>
            <a:ext cx="8760017" cy="518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710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Многофакторная аутентификация (</a:t>
            </a:r>
            <a:r>
              <a:rPr lang="en-US" b="1" dirty="0"/>
              <a:t>MFA/2FA</a:t>
            </a:r>
            <a:r>
              <a:rPr lang="en-US" b="1" dirty="0" smtClean="0"/>
              <a:t>)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sz="1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(лучшее что могли придумать люди)</a:t>
            </a:r>
            <a:endParaRPr lang="ru-RU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Даже </a:t>
            </a:r>
            <a:r>
              <a:rPr lang="ru-RU" dirty="0"/>
              <a:t>если пароль украден, злоумышленнику нужен второй фактор (код из приложения, </a:t>
            </a:r>
            <a:r>
              <a:rPr lang="en-US" dirty="0"/>
              <a:t>SMS, </a:t>
            </a:r>
            <a:r>
              <a:rPr lang="ru-RU" dirty="0"/>
              <a:t>ключ</a:t>
            </a:r>
            <a:r>
              <a:rPr lang="ru-RU" dirty="0" smtClean="0"/>
              <a:t>).</a:t>
            </a:r>
            <a:endParaRPr lang="ru-RU" b="1" dirty="0" smtClean="0"/>
          </a:p>
          <a:p>
            <a:pPr marL="0" indent="0">
              <a:buNone/>
            </a:pPr>
            <a:endParaRPr lang="ru-RU" b="1" dirty="0" smtClean="0"/>
          </a:p>
          <a:p>
            <a:pPr marL="0" indent="0">
              <a:buNone/>
            </a:pPr>
            <a:r>
              <a:rPr lang="ru-RU" b="1" dirty="0" smtClean="0"/>
              <a:t>Типы </a:t>
            </a:r>
            <a:r>
              <a:rPr lang="ru-RU" b="1" dirty="0"/>
              <a:t>2</a:t>
            </a:r>
            <a:r>
              <a:rPr lang="en-US" b="1" dirty="0"/>
              <a:t>FA:</a:t>
            </a:r>
            <a:r>
              <a:rPr lang="en-US" dirty="0"/>
              <a:t> 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SMS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ru-RU" dirty="0"/>
              <a:t>менее безопасно</a:t>
            </a:r>
            <a:r>
              <a:rPr lang="ru-RU" dirty="0" smtClean="0"/>
              <a:t>),</a:t>
            </a:r>
          </a:p>
          <a:p>
            <a:r>
              <a:rPr lang="ru-RU" dirty="0" smtClean="0"/>
              <a:t> </a:t>
            </a:r>
            <a:r>
              <a:rPr lang="en-US" dirty="0" smtClean="0"/>
              <a:t>TOTP-</a:t>
            </a:r>
            <a:r>
              <a:rPr lang="ru-RU" dirty="0"/>
              <a:t>приложения </a:t>
            </a:r>
            <a:r>
              <a:rPr lang="ru-RU" sz="2400" dirty="0"/>
              <a:t>(</a:t>
            </a:r>
            <a:r>
              <a:rPr lang="en-US" sz="2400" dirty="0"/>
              <a:t>Google </a:t>
            </a:r>
            <a:r>
              <a:rPr lang="en-US" sz="2400" dirty="0" err="1" smtClean="0"/>
              <a:t>Authenticator,Microsoft</a:t>
            </a:r>
            <a:r>
              <a:rPr lang="en-US" sz="2400" dirty="0" smtClean="0"/>
              <a:t> </a:t>
            </a:r>
            <a:r>
              <a:rPr lang="en-US" sz="2400" dirty="0"/>
              <a:t>Authenticator — </a:t>
            </a:r>
            <a:r>
              <a:rPr lang="ru-RU" sz="2400" dirty="0"/>
              <a:t>лучше</a:t>
            </a:r>
            <a:r>
              <a:rPr lang="ru-RU" sz="2400" dirty="0" smtClean="0"/>
              <a:t>)</a:t>
            </a:r>
            <a:r>
              <a:rPr lang="ru-RU" dirty="0" smtClean="0"/>
              <a:t>,</a:t>
            </a:r>
          </a:p>
          <a:p>
            <a:r>
              <a:rPr lang="ru-RU" dirty="0" smtClean="0"/>
              <a:t> </a:t>
            </a:r>
            <a:r>
              <a:rPr lang="ru-RU" dirty="0"/>
              <a:t>Аппаратные ключи (</a:t>
            </a:r>
            <a:r>
              <a:rPr lang="en-US" dirty="0" err="1"/>
              <a:t>YubiKey</a:t>
            </a:r>
            <a:r>
              <a:rPr lang="en-US" dirty="0"/>
              <a:t> — </a:t>
            </a:r>
            <a:r>
              <a:rPr lang="ru-RU" dirty="0"/>
              <a:t>самый надежный).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4330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TOTP</a:t>
            </a:r>
            <a:r>
              <a:rPr lang="ru-RU" b="1" dirty="0" smtClean="0"/>
              <a:t> </a:t>
            </a:r>
            <a:br>
              <a:rPr lang="ru-RU" b="1" dirty="0" smtClean="0"/>
            </a:br>
            <a:r>
              <a:rPr lang="en-US" b="1" dirty="0" smtClean="0"/>
              <a:t>Time-based One-Time Password Algorithm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326786"/>
            <a:ext cx="10515600" cy="4351338"/>
          </a:xfrm>
        </p:spPr>
        <p:txBody>
          <a:bodyPr/>
          <a:lstStyle/>
          <a:p>
            <a:r>
              <a:rPr lang="en-US" b="1" dirty="0"/>
              <a:t>TOTP </a:t>
            </a:r>
            <a:r>
              <a:rPr lang="en-US" dirty="0"/>
              <a:t> — </a:t>
            </a:r>
            <a:r>
              <a:rPr lang="en-US" b="1" dirty="0"/>
              <a:t>OATH-</a:t>
            </a:r>
            <a:r>
              <a:rPr lang="ru-RU" b="1" dirty="0"/>
              <a:t>алгоритм создания одноразовых паролей для защищённой аутентификации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улучшение алгоритма </a:t>
            </a:r>
            <a:r>
              <a:rPr lang="en-US" dirty="0"/>
              <a:t>HOTP (HMAC-Based One-Time Password Algorithm).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8600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Принцип наименьших привилегий (</a:t>
            </a:r>
            <a:r>
              <a:rPr lang="ru-RU" b="1" dirty="0" err="1" smtClean="0"/>
              <a:t>PoLP</a:t>
            </a:r>
            <a:r>
              <a:rPr lang="ru-RU" b="1" dirty="0" smtClean="0"/>
              <a:t>)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err="1" smtClean="0"/>
              <a:t>PoLP</a:t>
            </a:r>
            <a:r>
              <a:rPr lang="ru-RU" b="1" dirty="0" smtClean="0"/>
              <a:t> </a:t>
            </a:r>
            <a:r>
              <a:rPr lang="ru-RU" dirty="0" smtClean="0"/>
              <a:t>(</a:t>
            </a:r>
            <a:r>
              <a:rPr lang="en-US" dirty="0" smtClean="0"/>
              <a:t>Principle </a:t>
            </a:r>
            <a:r>
              <a:rPr lang="en-US" dirty="0"/>
              <a:t>of Least </a:t>
            </a:r>
            <a:r>
              <a:rPr lang="en-US" dirty="0" smtClean="0"/>
              <a:t>Privilege</a:t>
            </a:r>
            <a:r>
              <a:rPr lang="ru-RU" dirty="0"/>
              <a:t>)</a:t>
            </a:r>
            <a:r>
              <a:rPr lang="en-US" dirty="0" smtClean="0"/>
              <a:t> </a:t>
            </a:r>
            <a:r>
              <a:rPr lang="ru-RU" dirty="0" smtClean="0"/>
              <a:t>Давать </a:t>
            </a:r>
            <a:r>
              <a:rPr lang="ru-RU" dirty="0"/>
              <a:t>ровно столько прав, сколько нужно для работы</a:t>
            </a:r>
          </a:p>
          <a:p>
            <a:r>
              <a:rPr lang="ru-RU" b="1" dirty="0"/>
              <a:t>Контент:</a:t>
            </a:r>
            <a:r>
              <a:rPr lang="ru-RU" dirty="0"/>
              <a:t> Пользователь (или программа) должны иметь минимальный набор прав, необходимых для выполнения своих задач.</a:t>
            </a:r>
          </a:p>
          <a:p>
            <a:r>
              <a:rPr lang="ru-RU" b="1" dirty="0"/>
              <a:t>Пример:</a:t>
            </a:r>
            <a:r>
              <a:rPr lang="ru-RU" dirty="0"/>
              <a:t> Бухгалтеру не нужен доступ к серверам разработки, а рядовому сотруднику — к финансовой отчетности.</a:t>
            </a:r>
          </a:p>
          <a:p>
            <a:r>
              <a:rPr lang="ru-RU" b="1" dirty="0"/>
              <a:t>Плюсы:</a:t>
            </a:r>
            <a:r>
              <a:rPr lang="ru-RU" dirty="0"/>
              <a:t> Снижает ущерб при </a:t>
            </a:r>
            <a:r>
              <a:rPr lang="ru-RU" dirty="0" smtClean="0"/>
              <a:t>утечки или кражи учетной </a:t>
            </a:r>
            <a:r>
              <a:rPr lang="ru-RU" dirty="0"/>
              <a:t>записи.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5978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6146" name="Picture 2" descr="https://avatars.mds.yandex.net/get-entity_search/2044927/1237288006/S600xU_2x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193" y="1007368"/>
            <a:ext cx="6005145" cy="4500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595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Практические советы для </a:t>
            </a:r>
            <a:r>
              <a:rPr lang="ru-RU" b="1" dirty="0" smtClean="0"/>
              <a:t>каждого: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414709"/>
            <a:ext cx="10515600" cy="4351338"/>
          </a:xfrm>
        </p:spPr>
        <p:txBody>
          <a:bodyPr/>
          <a:lstStyle/>
          <a:p>
            <a:r>
              <a:rPr lang="ru-RU" dirty="0"/>
              <a:t>Установите и настройте менеджер паролей.</a:t>
            </a:r>
          </a:p>
          <a:p>
            <a:r>
              <a:rPr lang="ru-RU" dirty="0"/>
              <a:t>Включите MFA везде, где это возможно (особенно почта, </a:t>
            </a:r>
            <a:r>
              <a:rPr lang="ru-RU" dirty="0" err="1"/>
              <a:t>соцсети</a:t>
            </a:r>
            <a:r>
              <a:rPr lang="ru-RU" dirty="0"/>
              <a:t>, банки</a:t>
            </a:r>
            <a:r>
              <a:rPr lang="ru-RU" dirty="0" smtClean="0"/>
              <a:t>).</a:t>
            </a:r>
          </a:p>
          <a:p>
            <a:r>
              <a:rPr lang="ru-RU" dirty="0" smtClean="0"/>
              <a:t>Блокируйте </a:t>
            </a:r>
            <a:r>
              <a:rPr lang="ru-RU" dirty="0"/>
              <a:t>компьютер, уходя от рабочего места.</a:t>
            </a:r>
          </a:p>
          <a:p>
            <a:r>
              <a:rPr lang="ru-RU" dirty="0"/>
              <a:t>Будьте бдительны к </a:t>
            </a:r>
            <a:r>
              <a:rPr lang="ru-RU" dirty="0" err="1"/>
              <a:t>фишинговым</a:t>
            </a:r>
            <a:r>
              <a:rPr lang="ru-RU" dirty="0"/>
              <a:t> письмам, "просящим" пароль.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7105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58308" y="2364031"/>
            <a:ext cx="5369169" cy="1325563"/>
          </a:xfrm>
        </p:spPr>
        <p:txBody>
          <a:bodyPr/>
          <a:lstStyle/>
          <a:p>
            <a:r>
              <a:rPr lang="ru-RU" b="1" dirty="0" smtClean="0"/>
              <a:t>Спасибо за внимание!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-630116" y="368959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14463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262</Words>
  <Application>Microsoft Office PowerPoint</Application>
  <PresentationFormat>Широкоэкранный</PresentationFormat>
  <Paragraphs>68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Тема Office</vt:lpstr>
      <vt:lpstr>Управление паролями и доступом</vt:lpstr>
      <vt:lpstr>Управление паролями и доступом важно</vt:lpstr>
      <vt:lpstr>Что такое управление доступом (IAM)</vt:lpstr>
      <vt:lpstr>Эволюция аутентификации</vt:lpstr>
      <vt:lpstr>Три стадии эволюции аутентификации</vt:lpstr>
      <vt:lpstr>Пример двух факторной аутентификации</vt:lpstr>
      <vt:lpstr>Хорошие и Плохие пароли</vt:lpstr>
      <vt:lpstr>Учетные записи привилегированных пользователей (PAM)</vt:lpstr>
      <vt:lpstr>Менеджеры паролей — ваша цифровая записная книжка</vt:lpstr>
      <vt:lpstr>Пример интерфейса</vt:lpstr>
      <vt:lpstr>Презентация PowerPoint</vt:lpstr>
      <vt:lpstr>Многофакторная аутентификация (MFA/2FA) (лучшее что могли придумать люди)</vt:lpstr>
      <vt:lpstr>TOTP  Time-based One-Time Password Algorithm</vt:lpstr>
      <vt:lpstr>Принцип наименьших привилегий (PoLP) </vt:lpstr>
      <vt:lpstr> </vt:lpstr>
      <vt:lpstr>Практические советы для каждого: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паролями и доступом</dc:title>
  <dc:creator>Михаил</dc:creator>
  <cp:lastModifiedBy>Михаил</cp:lastModifiedBy>
  <cp:revision>6</cp:revision>
  <dcterms:created xsi:type="dcterms:W3CDTF">2026-02-05T14:20:32Z</dcterms:created>
  <dcterms:modified xsi:type="dcterms:W3CDTF">2026-02-05T15:00:16Z</dcterms:modified>
</cp:coreProperties>
</file>