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9" r:id="rId8"/>
    <p:sldId id="271" r:id="rId9"/>
    <p:sldId id="262" r:id="rId10"/>
    <p:sldId id="270" r:id="rId11"/>
    <p:sldId id="263" r:id="rId12"/>
    <p:sldId id="265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3ED"/>
    <a:srgbClr val="AE1E4B"/>
    <a:srgbClr val="D70651"/>
    <a:srgbClr val="DD4814"/>
    <a:srgbClr val="00628F"/>
    <a:srgbClr val="EC9300"/>
    <a:srgbClr val="01963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6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37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27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6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64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6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65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1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96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134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15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B2AE6-B5E2-416B-854A-89AE931A271D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E27E8-56F6-4F22-A5C5-A47C31EC35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37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6844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 </a:t>
            </a:r>
            <a:r>
              <a:rPr lang="ru-RU" b="1" dirty="0"/>
              <a:t>Виды серверного программного обеспечения. Установка и обслуживание.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r"/>
            <a:r>
              <a:rPr lang="ru-RU" sz="3200" dirty="0" smtClean="0"/>
              <a:t>Выполнил</a:t>
            </a:r>
            <a:r>
              <a:rPr lang="en-US" sz="3200" dirty="0" smtClean="0"/>
              <a:t>:</a:t>
            </a:r>
          </a:p>
          <a:p>
            <a:pPr algn="r"/>
            <a:r>
              <a:rPr lang="ru-RU" sz="3200" dirty="0" smtClean="0"/>
              <a:t>Лехман М.</a:t>
            </a:r>
          </a:p>
          <a:p>
            <a:pPr algn="r"/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 smtClean="0"/>
              <a:t>ИПо9581</a:t>
            </a:r>
            <a:endParaRPr lang="ru-RU" sz="3200" dirty="0"/>
          </a:p>
        </p:txBody>
      </p:sp>
      <p:pic>
        <p:nvPicPr>
          <p:cNvPr id="2050" name="Picture 2" descr="7 шагов по организации пространства в серверной стойк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25" y="3106756"/>
            <a:ext cx="7274990" cy="3355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54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86714"/>
            <a:ext cx="10515600" cy="1325563"/>
          </a:xfrm>
        </p:spPr>
        <p:txBody>
          <a:bodyPr/>
          <a:lstStyle/>
          <a:p>
            <a:r>
              <a:rPr lang="ru-RU" b="1" dirty="0"/>
              <a:t>Что такое </a:t>
            </a:r>
            <a:r>
              <a:rPr lang="ru-RU" b="1" dirty="0" smtClean="0"/>
              <a:t>Серверное </a:t>
            </a:r>
            <a:r>
              <a:rPr lang="ru-RU" b="1" dirty="0"/>
              <a:t>ПО</a:t>
            </a:r>
            <a:r>
              <a:rPr lang="ru-RU" b="1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97977" y="1512277"/>
            <a:ext cx="10445260" cy="50379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Серверное программное обеспечение </a:t>
            </a:r>
            <a:r>
              <a:rPr lang="ru-RU" dirty="0"/>
              <a:t>— это комплекс программ, предназначенных для обслуживания клиентских </a:t>
            </a:r>
            <a:r>
              <a:rPr lang="ru-RU" dirty="0" smtClean="0"/>
              <a:t>запросов.</a:t>
            </a:r>
          </a:p>
          <a:p>
            <a:pPr marL="0" indent="0">
              <a:buNone/>
            </a:pPr>
            <a:r>
              <a:rPr lang="ru-RU" dirty="0" smtClean="0"/>
              <a:t>Оно </a:t>
            </a:r>
            <a:r>
              <a:rPr lang="ru-RU" dirty="0"/>
              <a:t>работает непрерывно (24/7), управляет ресурсами и </a:t>
            </a:r>
            <a:r>
              <a:rPr lang="ru-RU" dirty="0" smtClean="0"/>
              <a:t>обеспечивает </a:t>
            </a:r>
            <a:r>
              <a:rPr lang="ru-RU" dirty="0"/>
              <a:t>работу </a:t>
            </a:r>
            <a:r>
              <a:rPr lang="ru-RU" dirty="0" smtClean="0"/>
              <a:t>сетевой инфраструктуры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b="1" dirty="0"/>
              <a:t>Ключевые отличия от клиентского ПО</a:t>
            </a:r>
            <a:r>
              <a:rPr lang="ru-RU" b="1" dirty="0" smtClean="0"/>
              <a:t>:</a:t>
            </a:r>
            <a:endParaRPr lang="en-US" b="1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Нагрузка:</a:t>
            </a:r>
            <a:r>
              <a:rPr lang="ru-RU" dirty="0"/>
              <a:t> Работа с сотнями/тысячами одновременных подключений.</a:t>
            </a:r>
          </a:p>
          <a:p>
            <a:pPr marL="0" indent="0">
              <a:buNone/>
            </a:pPr>
            <a:r>
              <a:rPr lang="ru-RU" b="1" dirty="0"/>
              <a:t>Отказоустойчивость:</a:t>
            </a:r>
            <a:r>
              <a:rPr lang="ru-RU" dirty="0"/>
              <a:t> Высокая (кластеризация, резервирование).</a:t>
            </a:r>
          </a:p>
          <a:p>
            <a:pPr marL="0" indent="0">
              <a:buNone/>
            </a:pPr>
            <a:r>
              <a:rPr lang="ru-RU" b="1" dirty="0"/>
              <a:t>Управление:</a:t>
            </a:r>
            <a:r>
              <a:rPr lang="ru-RU" dirty="0"/>
              <a:t> Часто через консоль (CLI) или </a:t>
            </a:r>
            <a:r>
              <a:rPr lang="ru-RU" dirty="0" smtClean="0"/>
              <a:t>веб-интерфейс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ru-RU" sz="2600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ru-RU" sz="26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ru-RU" sz="2600" dirty="0" smtClean="0">
                <a:solidFill>
                  <a:schemeClr val="bg2">
                    <a:lumMod val="50000"/>
                  </a:schemeClr>
                </a:solidFill>
              </a:rPr>
              <a:t>CLI – это</a:t>
            </a:r>
            <a:r>
              <a:rPr lang="ru-RU" sz="2600" dirty="0">
                <a:solidFill>
                  <a:schemeClr val="bg2">
                    <a:lumMod val="50000"/>
                  </a:schemeClr>
                </a:solidFill>
              </a:rPr>
              <a:t> способ управления операционной системой или программами через ввод текстовых команд в терминале. В отличие от GUI (графического интерфейса), </a:t>
            </a:r>
            <a:endParaRPr lang="en-US" sz="2600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600" dirty="0" smtClean="0">
                <a:solidFill>
                  <a:schemeClr val="bg2">
                    <a:lumMod val="50000"/>
                  </a:schemeClr>
                </a:solidFill>
              </a:rPr>
              <a:t>CLI</a:t>
            </a:r>
            <a:r>
              <a:rPr lang="ru-RU" sz="2600" dirty="0">
                <a:solidFill>
                  <a:schemeClr val="bg2">
                    <a:lumMod val="50000"/>
                  </a:schemeClr>
                </a:solidFill>
              </a:rPr>
              <a:t> не использует окна и кнопки, а опирается на текстовый ввод и вывод.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13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thecode.media/wp-content/uploads/2025/11/unnamed-22-1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02" y="550811"/>
            <a:ext cx="9921601" cy="584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thecode.media/wp-content/uploads/2025/11/unnamed-22-1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01" y="550810"/>
            <a:ext cx="9921601" cy="584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01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Классификация</a:t>
            </a:r>
            <a:r>
              <a:rPr lang="ru-RU" b="1" dirty="0" smtClean="0"/>
              <a:t>. </a:t>
            </a:r>
            <a:br>
              <a:rPr lang="ru-RU" b="1" dirty="0" smtClean="0"/>
            </a:br>
            <a:r>
              <a:rPr lang="ru-RU" b="1" dirty="0" smtClean="0"/>
              <a:t>Базовая инфраструктура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1940" y="1690688"/>
            <a:ext cx="8889022" cy="442253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ru-RU" b="1" dirty="0" smtClean="0"/>
              <a:t>Серверное </a:t>
            </a:r>
            <a:r>
              <a:rPr lang="ru-RU" b="1" dirty="0"/>
              <a:t>ПО делится на несколько функциональных слоев</a:t>
            </a:r>
            <a:r>
              <a:rPr lang="ru-RU" b="1" dirty="0" smtClean="0"/>
              <a:t>:</a:t>
            </a: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/>
              <a:t>1</a:t>
            </a:r>
            <a:r>
              <a:rPr lang="en-US" dirty="0" smtClean="0"/>
              <a:t> </a:t>
            </a:r>
            <a:r>
              <a:rPr lang="ru-RU" dirty="0" smtClean="0"/>
              <a:t>Веб-серверы</a:t>
            </a:r>
            <a:r>
              <a:rPr lang="ru-RU" dirty="0"/>
              <a:t>:</a:t>
            </a:r>
          </a:p>
          <a:p>
            <a:pPr lvl="1" algn="just"/>
            <a:r>
              <a:rPr lang="ru-RU" dirty="0"/>
              <a:t>Роль: Обработка </a:t>
            </a:r>
            <a:r>
              <a:rPr lang="en-US" dirty="0"/>
              <a:t>HTTP/HTTPS </a:t>
            </a:r>
            <a:r>
              <a:rPr lang="ru-RU" dirty="0"/>
              <a:t>запросов, выдача сайтов.</a:t>
            </a:r>
          </a:p>
          <a:p>
            <a:pPr lvl="1" algn="just"/>
            <a:r>
              <a:rPr lang="ru-RU" dirty="0"/>
              <a:t>Примеры: </a:t>
            </a:r>
            <a:r>
              <a:rPr lang="en-US" b="1" dirty="0">
                <a:solidFill>
                  <a:srgbClr val="01963B"/>
                </a:solidFill>
              </a:rPr>
              <a:t>Nginx</a:t>
            </a:r>
            <a:r>
              <a:rPr lang="en-US" b="1" dirty="0"/>
              <a:t>, </a:t>
            </a:r>
            <a:r>
              <a:rPr lang="en-US" b="1" dirty="0">
                <a:solidFill>
                  <a:srgbClr val="AE1E4B"/>
                </a:solidFill>
              </a:rPr>
              <a:t>Apache</a:t>
            </a:r>
            <a:r>
              <a:rPr lang="en-US" b="1" dirty="0"/>
              <a:t>, IIS</a:t>
            </a:r>
            <a:r>
              <a:rPr lang="en-US" dirty="0"/>
              <a:t> </a:t>
            </a:r>
            <a:r>
              <a:rPr lang="en-US" dirty="0" smtClean="0"/>
              <a:t>.</a:t>
            </a:r>
          </a:p>
          <a:p>
            <a:pPr lvl="1" algn="just"/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2</a:t>
            </a:r>
            <a:r>
              <a:rPr lang="en-US" dirty="0" smtClean="0"/>
              <a:t> </a:t>
            </a:r>
            <a:r>
              <a:rPr lang="ru-RU" dirty="0" smtClean="0"/>
              <a:t>Серверы </a:t>
            </a:r>
            <a:r>
              <a:rPr lang="ru-RU" dirty="0"/>
              <a:t>БД (СУБД):</a:t>
            </a:r>
          </a:p>
          <a:p>
            <a:pPr lvl="1" algn="just"/>
            <a:r>
              <a:rPr lang="ru-RU" dirty="0"/>
              <a:t>Роль: Хранение, структурирование и быстрый поиск данных.</a:t>
            </a:r>
          </a:p>
          <a:p>
            <a:pPr lvl="1" algn="just"/>
            <a:r>
              <a:rPr lang="ru-RU" dirty="0"/>
              <a:t>Примеры: </a:t>
            </a:r>
            <a:r>
              <a:rPr lang="en-US" b="1" dirty="0">
                <a:solidFill>
                  <a:srgbClr val="00628F"/>
                </a:solidFill>
              </a:rPr>
              <a:t>My</a:t>
            </a:r>
            <a:r>
              <a:rPr lang="en-US" b="1" dirty="0">
                <a:solidFill>
                  <a:srgbClr val="EC9300"/>
                </a:solidFill>
              </a:rPr>
              <a:t>SQL</a:t>
            </a:r>
            <a:r>
              <a:rPr lang="en-US" b="1" dirty="0"/>
              <a:t>, PostgreSQL, Microsoft SQL Server</a:t>
            </a:r>
            <a:r>
              <a:rPr lang="en-US" dirty="0"/>
              <a:t> </a:t>
            </a:r>
            <a:r>
              <a:rPr lang="en-US" dirty="0" smtClean="0"/>
              <a:t>.</a:t>
            </a:r>
          </a:p>
          <a:p>
            <a:pPr lvl="1" algn="just"/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3</a:t>
            </a:r>
            <a:r>
              <a:rPr lang="en-US" dirty="0" smtClean="0"/>
              <a:t> </a:t>
            </a:r>
            <a:r>
              <a:rPr lang="ru-RU" dirty="0" smtClean="0"/>
              <a:t>Файловые </a:t>
            </a:r>
            <a:r>
              <a:rPr lang="ru-RU" dirty="0"/>
              <a:t>серверы</a:t>
            </a:r>
            <a:r>
              <a:rPr lang="ru-RU" dirty="0" smtClean="0"/>
              <a:t>:</a:t>
            </a:r>
            <a:endParaRPr lang="ru-RU" dirty="0"/>
          </a:p>
          <a:p>
            <a:pPr lvl="1" algn="just"/>
            <a:r>
              <a:rPr lang="ru-RU" dirty="0"/>
              <a:t>Роль: Централизованное хранилище данных и управление доступом.</a:t>
            </a:r>
          </a:p>
          <a:p>
            <a:pPr lvl="1" algn="just"/>
            <a:r>
              <a:rPr lang="ru-RU" dirty="0"/>
              <a:t>Примеры: </a:t>
            </a:r>
            <a:r>
              <a:rPr lang="en-US" b="1" dirty="0"/>
              <a:t>Samba,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en-US" b="1" dirty="0"/>
              <a:t> File Server, NFS</a:t>
            </a:r>
            <a:r>
              <a:rPr lang="en-US" dirty="0"/>
              <a:t> 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961" y="2689895"/>
            <a:ext cx="655686" cy="65271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933" y="2722036"/>
            <a:ext cx="1017999" cy="745907"/>
          </a:xfrm>
          <a:prstGeom prst="rect">
            <a:avLst/>
          </a:prstGeom>
        </p:spPr>
      </p:pic>
      <p:pic>
        <p:nvPicPr>
          <p:cNvPr id="1028" name="Picture 4" descr="MySQL logo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673" y="3683902"/>
            <a:ext cx="890148" cy="89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06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Классификация.</a:t>
            </a:r>
            <a:br>
              <a:rPr lang="ru-RU" b="1" dirty="0" smtClean="0"/>
            </a:br>
            <a:r>
              <a:rPr lang="ru-RU" b="1" dirty="0"/>
              <a:t>Специализированные </a:t>
            </a:r>
            <a:r>
              <a:rPr lang="ru-RU" b="1" dirty="0" smtClean="0"/>
              <a:t>серверы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4354" y="1884119"/>
            <a:ext cx="10928838" cy="42792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4 </a:t>
            </a:r>
            <a:r>
              <a:rPr lang="ru-RU" sz="2400" dirty="0" smtClean="0"/>
              <a:t>Почтовые </a:t>
            </a:r>
            <a:r>
              <a:rPr lang="ru-RU" sz="2400" dirty="0"/>
              <a:t>серверы (MTA):</a:t>
            </a:r>
          </a:p>
          <a:p>
            <a:pPr lvl="1"/>
            <a:r>
              <a:rPr lang="ru-RU" dirty="0"/>
              <a:t>Роль: Пересылка, прием и хранение электронной почты.</a:t>
            </a:r>
          </a:p>
          <a:p>
            <a:pPr lvl="1"/>
            <a:r>
              <a:rPr lang="ru-RU" dirty="0"/>
              <a:t>Примеры: </a:t>
            </a:r>
            <a:r>
              <a:rPr lang="ru-RU" b="1" dirty="0" err="1"/>
              <a:t>Postfix</a:t>
            </a:r>
            <a:r>
              <a:rPr lang="ru-RU" b="1" dirty="0"/>
              <a:t>, </a:t>
            </a:r>
            <a:r>
              <a:rPr lang="ru-RU" b="1" dirty="0" err="1">
                <a:solidFill>
                  <a:schemeClr val="accent1">
                    <a:lumMod val="50000"/>
                  </a:schemeClr>
                </a:solidFill>
              </a:rPr>
              <a:t>Microsoft</a:t>
            </a:r>
            <a:r>
              <a:rPr lang="ru-RU" b="1" dirty="0"/>
              <a:t> </a:t>
            </a:r>
            <a:r>
              <a:rPr lang="ru-RU" b="1" dirty="0" err="1"/>
              <a:t>Exchange</a:t>
            </a:r>
            <a:r>
              <a:rPr lang="ru-RU" b="1" dirty="0"/>
              <a:t>, </a:t>
            </a:r>
            <a:r>
              <a:rPr lang="ru-RU" b="1" dirty="0" err="1"/>
              <a:t>Dovecot</a:t>
            </a:r>
            <a:r>
              <a:rPr lang="ru-RU" dirty="0"/>
              <a:t> 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en-US" sz="2400" b="1" dirty="0" smtClean="0"/>
              <a:t>5 </a:t>
            </a:r>
            <a:r>
              <a:rPr lang="ru-RU" sz="2400" dirty="0" smtClean="0"/>
              <a:t>Серверы </a:t>
            </a:r>
            <a:r>
              <a:rPr lang="ru-RU" sz="2400" dirty="0"/>
              <a:t>приложений:</a:t>
            </a:r>
          </a:p>
          <a:p>
            <a:pPr lvl="1"/>
            <a:r>
              <a:rPr lang="ru-RU" dirty="0"/>
              <a:t>Роль: Выполнение бизнес-логики (CRM, ERP), связь между вебом и БД.</a:t>
            </a:r>
          </a:p>
          <a:p>
            <a:pPr lvl="1"/>
            <a:r>
              <a:rPr lang="ru-RU" dirty="0"/>
              <a:t>Примеры: </a:t>
            </a:r>
            <a:r>
              <a:rPr lang="ru-RU" b="1" dirty="0" err="1">
                <a:solidFill>
                  <a:srgbClr val="AE1E4B"/>
                </a:solidFill>
              </a:rPr>
              <a:t>Apache</a:t>
            </a:r>
            <a:r>
              <a:rPr lang="ru-RU" b="1" dirty="0"/>
              <a:t> </a:t>
            </a:r>
            <a:r>
              <a:rPr lang="ru-RU" b="1" dirty="0" err="1"/>
              <a:t>Tomcat</a:t>
            </a:r>
            <a:r>
              <a:rPr lang="ru-RU" b="1" dirty="0"/>
              <a:t> (</a:t>
            </a:r>
            <a:r>
              <a:rPr lang="ru-RU" b="1" dirty="0" err="1"/>
              <a:t>Java</a:t>
            </a:r>
            <a:r>
              <a:rPr lang="ru-RU" b="1" dirty="0"/>
              <a:t>), </a:t>
            </a:r>
            <a:r>
              <a:rPr lang="ru-RU" b="1" dirty="0" err="1"/>
              <a:t>JBoss</a:t>
            </a:r>
            <a:r>
              <a:rPr lang="ru-RU" dirty="0"/>
              <a:t> 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en-US" sz="2400" b="1" dirty="0" smtClean="0"/>
              <a:t>6 </a:t>
            </a:r>
            <a:r>
              <a:rPr lang="ru-RU" sz="2400" dirty="0" smtClean="0"/>
              <a:t>Средства </a:t>
            </a:r>
            <a:r>
              <a:rPr lang="ru-RU" sz="2400" dirty="0"/>
              <a:t>виртуализации</a:t>
            </a:r>
            <a:r>
              <a:rPr lang="ru-RU" sz="2400" dirty="0" smtClean="0"/>
              <a:t>:</a:t>
            </a:r>
            <a:endParaRPr lang="ru-RU" sz="2400" dirty="0"/>
          </a:p>
          <a:p>
            <a:pPr lvl="1"/>
            <a:r>
              <a:rPr lang="ru-RU" dirty="0"/>
              <a:t>Роль: Запуск нескольких изолированных ОС на одном физическом сервере.</a:t>
            </a:r>
          </a:p>
          <a:p>
            <a:pPr lvl="1"/>
            <a:r>
              <a:rPr lang="ru-RU" dirty="0"/>
              <a:t>Примеры: </a:t>
            </a:r>
            <a:r>
              <a:rPr lang="ru-RU" b="1" dirty="0" err="1"/>
              <a:t>VMware</a:t>
            </a:r>
            <a:r>
              <a:rPr lang="ru-RU" b="1" dirty="0"/>
              <a:t> </a:t>
            </a:r>
            <a:r>
              <a:rPr lang="ru-RU" b="1" dirty="0" err="1"/>
              <a:t>ESXi</a:t>
            </a:r>
            <a:r>
              <a:rPr lang="ru-RU" b="1" dirty="0"/>
              <a:t>, </a:t>
            </a:r>
            <a:r>
              <a:rPr lang="ru-RU" b="1" dirty="0" err="1"/>
              <a:t>Proxmox</a:t>
            </a:r>
            <a:r>
              <a:rPr lang="ru-RU" b="1" dirty="0"/>
              <a:t> VE, KVM</a:t>
            </a:r>
            <a:r>
              <a:rPr lang="ru-RU" dirty="0"/>
              <a:t> 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652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Процесс установки серверного </a:t>
            </a:r>
            <a:r>
              <a:rPr lang="ru-RU" b="1" dirty="0" smtClean="0"/>
              <a:t>ПО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6622" y="1690689"/>
            <a:ext cx="10237177" cy="50618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Типовые сценарии установки</a:t>
            </a:r>
            <a:r>
              <a:rPr lang="ru-RU" b="1" dirty="0" smtClean="0"/>
              <a:t>:</a:t>
            </a:r>
          </a:p>
          <a:p>
            <a:pPr marL="0" indent="0">
              <a:buNone/>
            </a:pP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sz="2600" dirty="0" smtClean="0"/>
              <a:t>На</a:t>
            </a:r>
            <a:r>
              <a:rPr lang="ru-RU" sz="2600" b="1" dirty="0" smtClean="0"/>
              <a:t> Linux </a:t>
            </a:r>
            <a:r>
              <a:rPr lang="ru-RU" sz="2600" dirty="0" smtClean="0"/>
              <a:t>(</a:t>
            </a:r>
            <a:r>
              <a:rPr lang="ru-RU" sz="2600" dirty="0" err="1" smtClean="0">
                <a:solidFill>
                  <a:srgbClr val="AE1E4B"/>
                </a:solidFill>
              </a:rPr>
              <a:t>Debian</a:t>
            </a:r>
            <a:r>
              <a:rPr lang="ru-RU" sz="2600" dirty="0" smtClean="0"/>
              <a:t>/</a:t>
            </a:r>
            <a:r>
              <a:rPr lang="ru-RU" sz="2600" dirty="0" err="1" smtClean="0">
                <a:solidFill>
                  <a:srgbClr val="DD4814"/>
                </a:solidFill>
              </a:rPr>
              <a:t>Ubuntu</a:t>
            </a:r>
            <a:r>
              <a:rPr lang="ru-RU" sz="2600" dirty="0" smtClean="0"/>
              <a:t>):</a:t>
            </a:r>
          </a:p>
          <a:p>
            <a:pPr marL="0" indent="0">
              <a:buNone/>
            </a:pPr>
            <a:r>
              <a:rPr lang="ru-RU" sz="2000" dirty="0" smtClean="0"/>
              <a:t>	Использование менеджеров пакетов: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apt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install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nginx</a:t>
            </a:r>
            <a:r>
              <a:rPr lang="ru-RU" sz="2000" b="1" dirty="0" smtClean="0"/>
              <a:t>.</a:t>
            </a:r>
          </a:p>
          <a:p>
            <a:pPr marL="0" indent="0">
              <a:buNone/>
            </a:pPr>
            <a:r>
              <a:rPr lang="ru-RU" sz="2000" dirty="0" smtClean="0"/>
              <a:t>	Сборка из исходников (для специфичных задач).</a:t>
            </a:r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ru-RU" sz="2600" dirty="0"/>
              <a:t>На</a:t>
            </a:r>
            <a:r>
              <a:rPr lang="ru-RU" sz="2600" b="1" dirty="0"/>
              <a:t> </a:t>
            </a: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en-US" sz="2600" b="1" dirty="0"/>
              <a:t> Server</a:t>
            </a:r>
            <a:r>
              <a:rPr lang="en-US" sz="2600" dirty="0" smtClean="0"/>
              <a:t>:</a:t>
            </a:r>
            <a:endParaRPr lang="ru-RU" sz="2600" dirty="0" smtClean="0"/>
          </a:p>
          <a:p>
            <a:pPr marL="0" indent="0">
              <a:buNone/>
            </a:pPr>
            <a:r>
              <a:rPr lang="ru-RU" sz="2000" dirty="0" smtClean="0"/>
              <a:t>	Использование </a:t>
            </a:r>
            <a:r>
              <a:rPr lang="ru-RU" sz="2000" dirty="0"/>
              <a:t>мастера добавления ролей и компонентов (IIS, AD, DNS</a:t>
            </a:r>
            <a:r>
              <a:rPr lang="ru-RU" sz="2000" dirty="0" smtClean="0"/>
              <a:t>).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dirty="0"/>
              <a:t>Современные методы</a:t>
            </a:r>
            <a:r>
              <a:rPr lang="ru-RU" dirty="0" smtClean="0"/>
              <a:t>:</a:t>
            </a:r>
            <a:endParaRPr lang="ru-RU" dirty="0"/>
          </a:p>
          <a:p>
            <a:pPr marL="0" lvl="0" indent="0">
              <a:buNone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	Контейнеризация: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Развертывание через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1D63ED"/>
                </a:solidFill>
                <a:effectLst/>
                <a:latin typeface="quote-cjk-patch"/>
              </a:rPr>
              <a:t>Docker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docker-compose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up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lvl="0" indent="0">
              <a:buNone/>
            </a:pPr>
            <a:r>
              <a:rPr lang="ru-RU" sz="2000" dirty="0" smtClean="0"/>
              <a:t>	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Автоматизация: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Скрипты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Bash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quote-cjk-patch"/>
              </a:rPr>
              <a:t>PowerShell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(пример: установка через 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install.sh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 .</a:t>
            </a: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608384" y="1321356"/>
            <a:ext cx="6975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Установка зависит от операционной системы и архитектуры.</a:t>
            </a:r>
            <a:endParaRPr lang="ru-RU" dirty="0"/>
          </a:p>
        </p:txBody>
      </p:sp>
      <p:pic>
        <p:nvPicPr>
          <p:cNvPr id="2050" name="Picture 2" descr="Ubuntu Logo PNG Transparent – Brands Log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253" y="2185415"/>
            <a:ext cx="702405" cy="70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912" y="2185415"/>
            <a:ext cx="684056" cy="702405"/>
          </a:xfrm>
          <a:prstGeom prst="rect">
            <a:avLst/>
          </a:prstGeom>
        </p:spPr>
      </p:pic>
      <p:pic>
        <p:nvPicPr>
          <p:cNvPr id="1028" name="Picture 4" descr="Логотип программы Dock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122" y="4994030"/>
            <a:ext cx="1972028" cy="44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50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Инструкция по групповым политикам Active Drirect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77" y="1859035"/>
            <a:ext cx="5396815" cy="3362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42901" y="879204"/>
            <a:ext cx="57824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Пример Использования </a:t>
            </a:r>
            <a:r>
              <a:rPr lang="ru-RU" sz="2000" dirty="0"/>
              <a:t>мастера добавления </a:t>
            </a:r>
            <a:r>
              <a:rPr lang="ru-RU" sz="2000" dirty="0" smtClean="0"/>
              <a:t>ролей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en-US" sz="2000" dirty="0" smtClean="0"/>
              <a:t>(</a:t>
            </a:r>
            <a:r>
              <a:rPr lang="ru-RU" sz="2000" dirty="0" smtClean="0"/>
              <a:t>Для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en-US" sz="2000" dirty="0" smtClean="0"/>
              <a:t>):</a:t>
            </a:r>
            <a:endParaRPr lang="ru-RU" sz="2000" dirty="0"/>
          </a:p>
        </p:txBody>
      </p:sp>
      <p:pic>
        <p:nvPicPr>
          <p:cNvPr id="6148" name="Picture 4" descr="How to Install Nginx Web Server on Ubuntu 20.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516" y="2101362"/>
            <a:ext cx="5609615" cy="27168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6198576" y="879204"/>
            <a:ext cx="59934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Использование менеджеров пакетов:</a:t>
            </a:r>
            <a:r>
              <a:rPr lang="ru-RU" sz="2000" b="1" dirty="0"/>
              <a:t> </a:t>
            </a:r>
            <a:r>
              <a:rPr lang="ru-RU" sz="2000" b="1" dirty="0" err="1"/>
              <a:t>apt</a:t>
            </a:r>
            <a:r>
              <a:rPr lang="ru-RU" sz="2000" b="1" dirty="0"/>
              <a:t> </a:t>
            </a:r>
            <a:r>
              <a:rPr lang="ru-RU" sz="2000" b="1" dirty="0" err="1"/>
              <a:t>install</a:t>
            </a:r>
            <a:r>
              <a:rPr lang="ru-RU" sz="2000" b="1" dirty="0"/>
              <a:t> </a:t>
            </a:r>
            <a:r>
              <a:rPr lang="ru-RU" sz="2000" b="1" dirty="0" err="1">
                <a:solidFill>
                  <a:srgbClr val="01963B"/>
                </a:solidFill>
              </a:rPr>
              <a:t>nginx</a:t>
            </a:r>
            <a:endParaRPr lang="ru-RU" sz="2000" dirty="0">
              <a:solidFill>
                <a:srgbClr val="0196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2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9807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err="1" smtClean="0">
                <a:solidFill>
                  <a:srgbClr val="C00000"/>
                </a:solidFill>
              </a:rPr>
              <a:t>FireWall</a:t>
            </a:r>
            <a:endParaRPr lang="ru-RU" sz="6000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4930" y="1523634"/>
            <a:ext cx="6233747" cy="4683735"/>
          </a:xfrm>
        </p:spPr>
        <p:txBody>
          <a:bodyPr>
            <a:normAutofit/>
          </a:bodyPr>
          <a:lstStyle/>
          <a:p>
            <a:r>
              <a:rPr lang="ru-RU" sz="2400" b="1" dirty="0" err="1" smtClean="0"/>
              <a:t>Файрвол</a:t>
            </a:r>
            <a:r>
              <a:rPr lang="ru-RU" sz="2400" dirty="0" smtClean="0"/>
              <a:t> (или брандмауэр) —это система безопасности, которая контролирует</a:t>
            </a:r>
            <a:r>
              <a:rPr lang="en-US" sz="2400" dirty="0" smtClean="0"/>
              <a:t> </a:t>
            </a:r>
            <a:r>
              <a:rPr lang="ru-RU" sz="2400" dirty="0" smtClean="0"/>
              <a:t>сетевые соединения между устройствами и интернетом.</a:t>
            </a:r>
          </a:p>
          <a:p>
            <a:r>
              <a:rPr lang="ru-RU" sz="2400" dirty="0" smtClean="0"/>
              <a:t>Он работает как контрольно-пропускной пункт, сравнивая входящие и исходящие запросы с </a:t>
            </a:r>
            <a:r>
              <a:rPr lang="ru-RU" sz="2400" dirty="0" err="1" smtClean="0"/>
              <a:t>правиламии</a:t>
            </a:r>
            <a:r>
              <a:rPr lang="ru-RU" sz="2400" dirty="0" smtClean="0"/>
              <a:t> политиками, блокируя подозрительные попытки доступа и разрешая легитимный трафик.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778" y="1125426"/>
            <a:ext cx="4723248" cy="47495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8231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Обслуживание серверов (</a:t>
            </a:r>
            <a:r>
              <a:rPr lang="en-US" b="1" dirty="0"/>
              <a:t>Maintenance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Основные задачи администратора:</a:t>
            </a:r>
            <a:endParaRPr lang="ru-RU" dirty="0"/>
          </a:p>
          <a:p>
            <a:r>
              <a:rPr lang="ru-RU" b="1" dirty="0"/>
              <a:t>Мониторинг:</a:t>
            </a:r>
            <a:endParaRPr lang="ru-RU" dirty="0"/>
          </a:p>
          <a:p>
            <a:pPr marL="457200" lvl="1" indent="0">
              <a:buNone/>
            </a:pPr>
            <a:r>
              <a:rPr lang="ru-RU" dirty="0"/>
              <a:t>Отслеживание метрик (</a:t>
            </a:r>
            <a:r>
              <a:rPr lang="en-US" dirty="0"/>
              <a:t>CPU, RAM, Disk, Network).</a:t>
            </a:r>
          </a:p>
          <a:p>
            <a:pPr marL="457200" lvl="1" indent="0">
              <a:buNone/>
            </a:pPr>
            <a:r>
              <a:rPr lang="ru-RU" dirty="0"/>
              <a:t>Инструменты: </a:t>
            </a:r>
            <a:r>
              <a:rPr lang="en-US" b="1" dirty="0" err="1"/>
              <a:t>Zabbix</a:t>
            </a:r>
            <a:r>
              <a:rPr lang="en-US" b="1" dirty="0"/>
              <a:t>, Prometheus +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Grafana</a:t>
            </a:r>
            <a:r>
              <a:rPr lang="en-US" b="1" dirty="0"/>
              <a:t>, </a:t>
            </a:r>
            <a:r>
              <a:rPr lang="en-US" b="1" dirty="0" err="1"/>
              <a:t>Netdata</a:t>
            </a:r>
            <a:r>
              <a:rPr lang="en-US" dirty="0"/>
              <a:t> .</a:t>
            </a:r>
          </a:p>
          <a:p>
            <a:r>
              <a:rPr lang="ru-RU" b="1" dirty="0"/>
              <a:t>Управление обновлениями (</a:t>
            </a:r>
            <a:r>
              <a:rPr lang="en-US" b="1" dirty="0"/>
              <a:t>Patch Management):</a:t>
            </a:r>
            <a:endParaRPr lang="en-US" dirty="0"/>
          </a:p>
          <a:p>
            <a:pPr marL="457200" lvl="1" indent="0">
              <a:buNone/>
            </a:pPr>
            <a:r>
              <a:rPr lang="ru-RU" dirty="0"/>
              <a:t>Установка обновлений безопасности для ОС и приложений.</a:t>
            </a:r>
          </a:p>
          <a:p>
            <a:pPr marL="457200" lvl="1" indent="0">
              <a:buNone/>
            </a:pPr>
            <a:r>
              <a:rPr lang="ru-RU" dirty="0"/>
              <a:t>Автоматизация через </a:t>
            </a:r>
            <a:r>
              <a:rPr lang="en-US" dirty="0" err="1"/>
              <a:t>Ansible</a:t>
            </a:r>
            <a:r>
              <a:rPr lang="en-US" dirty="0"/>
              <a:t> </a:t>
            </a:r>
            <a:r>
              <a:rPr lang="ru-RU" dirty="0"/>
              <a:t>или скрипты .</a:t>
            </a:r>
          </a:p>
          <a:p>
            <a:r>
              <a:rPr lang="ru-RU" b="1" dirty="0" smtClean="0"/>
              <a:t>Безопасность:</a:t>
            </a:r>
            <a:endParaRPr lang="ru-RU" dirty="0" smtClean="0"/>
          </a:p>
          <a:p>
            <a:pPr marL="457200" lvl="1" indent="0">
              <a:buNone/>
            </a:pPr>
            <a:r>
              <a:rPr lang="ru-RU" dirty="0" smtClean="0"/>
              <a:t>Настройка </a:t>
            </a:r>
            <a:r>
              <a:rPr lang="en-US" dirty="0" smtClean="0"/>
              <a:t>Firewall (</a:t>
            </a:r>
            <a:r>
              <a:rPr lang="en-US" dirty="0" err="1" smtClean="0"/>
              <a:t>iptables</a:t>
            </a:r>
            <a:r>
              <a:rPr lang="en-US" dirty="0" smtClean="0"/>
              <a:t>, </a:t>
            </a:r>
            <a:r>
              <a:rPr lang="en-US" dirty="0" err="1" smtClean="0"/>
              <a:t>ufw</a:t>
            </a:r>
            <a:r>
              <a:rPr lang="en-US" dirty="0" smtClean="0"/>
              <a:t>, Windows Firewall).</a:t>
            </a:r>
          </a:p>
          <a:p>
            <a:pPr marL="457200" lvl="1" indent="0">
              <a:buNone/>
            </a:pPr>
            <a:r>
              <a:rPr lang="ru-RU" dirty="0" smtClean="0"/>
              <a:t>Мониторинг </a:t>
            </a:r>
            <a:r>
              <a:rPr lang="ru-RU" dirty="0"/>
              <a:t>логов (</a:t>
            </a:r>
            <a:r>
              <a:rPr lang="en-US" dirty="0"/>
              <a:t>ELK Stack) </a:t>
            </a:r>
            <a:r>
              <a:rPr lang="ru-RU" dirty="0"/>
              <a:t>и защита от взлома (</a:t>
            </a:r>
            <a:r>
              <a:rPr lang="en-US" dirty="0"/>
              <a:t>Fail2ban) 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17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statusengine.org/assets/img/tutorials/demo-dashboard-dar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374" y="560264"/>
            <a:ext cx="11647051" cy="676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502742" y="190932"/>
            <a:ext cx="78281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err="1" smtClean="0">
                <a:solidFill>
                  <a:srgbClr val="0F1115"/>
                </a:solidFill>
                <a:latin typeface="quote-cjk-patch"/>
              </a:rPr>
              <a:t>Д</a:t>
            </a:r>
            <a:r>
              <a:rPr lang="ru-RU" sz="2000" b="1" i="0" dirty="0" err="1" smtClean="0">
                <a:solidFill>
                  <a:srgbClr val="0F1115"/>
                </a:solidFill>
                <a:effectLst/>
                <a:latin typeface="quote-cjk-patch"/>
              </a:rPr>
              <a:t>ашборд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Grafana</a:t>
            </a:r>
            <a:r>
              <a:rPr lang="ru-RU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Панель для мониторинга и поддержки серверов 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170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Резервное копирование и восстановление (</a:t>
            </a:r>
            <a:r>
              <a:rPr lang="ru-RU" b="1" dirty="0" err="1" smtClean="0"/>
              <a:t>Backup</a:t>
            </a:r>
            <a:r>
              <a:rPr lang="ru-RU" b="1" dirty="0" smtClean="0"/>
              <a:t> &amp; </a:t>
            </a:r>
            <a:r>
              <a:rPr lang="ru-RU" b="1" dirty="0" err="1" smtClean="0"/>
              <a:t>Recovery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56946" y="2291645"/>
            <a:ext cx="10978662" cy="3335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Стратегии:</a:t>
            </a:r>
            <a:endParaRPr lang="ru-RU" dirty="0"/>
          </a:p>
          <a:p>
            <a:pPr marL="0" indent="0">
              <a:buNone/>
            </a:pPr>
            <a:r>
              <a:rPr lang="en-US" sz="2000" b="1" dirty="0"/>
              <a:t>RTO (Recovery Time Objective):</a:t>
            </a:r>
            <a:r>
              <a:rPr lang="en-US" sz="2000" dirty="0"/>
              <a:t> </a:t>
            </a:r>
            <a:r>
              <a:rPr lang="ru-RU" sz="2000" dirty="0"/>
              <a:t>Время, за которое сервер должен быть восстановлен.</a:t>
            </a:r>
          </a:p>
          <a:p>
            <a:pPr marL="0" indent="0">
              <a:buNone/>
            </a:pPr>
            <a:r>
              <a:rPr lang="en-US" sz="2000" b="1" dirty="0"/>
              <a:t>RPO (Recovery Point Objective):</a:t>
            </a:r>
            <a:r>
              <a:rPr lang="en-US" sz="2000" dirty="0"/>
              <a:t> </a:t>
            </a:r>
            <a:r>
              <a:rPr lang="ru-RU" sz="2000" dirty="0"/>
              <a:t>Допустимый объем потери данных (например, </a:t>
            </a:r>
            <a:r>
              <a:rPr lang="ru-RU" sz="2000" dirty="0" err="1"/>
              <a:t>бэкап</a:t>
            </a:r>
            <a:r>
              <a:rPr lang="ru-RU" sz="2000" dirty="0"/>
              <a:t> раз в час</a:t>
            </a:r>
            <a:r>
              <a:rPr lang="ru-RU" sz="2000" dirty="0" smtClean="0"/>
              <a:t>).</a:t>
            </a:r>
            <a:endParaRPr lang="ru-RU" sz="2000" dirty="0"/>
          </a:p>
          <a:p>
            <a:pPr marL="0" indent="0">
              <a:buNone/>
            </a:pPr>
            <a:r>
              <a:rPr lang="ru-RU" b="1" dirty="0"/>
              <a:t>Популярные решения:</a:t>
            </a:r>
            <a:endParaRPr lang="ru-RU" dirty="0"/>
          </a:p>
          <a:p>
            <a:pPr marL="0" indent="0">
              <a:buNone/>
            </a:pPr>
            <a:r>
              <a:rPr lang="en-US" sz="2000" b="1" dirty="0" err="1"/>
              <a:t>Veeam</a:t>
            </a:r>
            <a:r>
              <a:rPr lang="en-US" sz="2000" b="1" dirty="0"/>
              <a:t> Backup &amp; Replication:</a:t>
            </a:r>
            <a:r>
              <a:rPr lang="en-US" sz="2000" dirty="0"/>
              <a:t> </a:t>
            </a:r>
            <a:r>
              <a:rPr lang="ru-RU" sz="2000" dirty="0"/>
              <a:t>Стандарт для виртуальных сред.</a:t>
            </a:r>
          </a:p>
          <a:p>
            <a:pPr marL="0" indent="0">
              <a:buNone/>
            </a:pPr>
            <a:r>
              <a:rPr lang="en-US" sz="2000" b="1" dirty="0" err="1"/>
              <a:t>Bacula</a:t>
            </a:r>
            <a:r>
              <a:rPr lang="en-US" sz="2000" b="1" dirty="0"/>
              <a:t> / </a:t>
            </a:r>
            <a:r>
              <a:rPr lang="en-US" sz="2000" b="1" dirty="0" err="1"/>
              <a:t>rsync</a:t>
            </a:r>
            <a:r>
              <a:rPr lang="en-US" sz="2000" b="1" dirty="0"/>
              <a:t>:</a:t>
            </a:r>
            <a:r>
              <a:rPr lang="en-US" sz="2000" dirty="0"/>
              <a:t> </a:t>
            </a:r>
            <a:r>
              <a:rPr lang="ru-RU" sz="2000" dirty="0"/>
              <a:t>Для файловых серверов </a:t>
            </a:r>
            <a:r>
              <a:rPr lang="en-US" sz="2000" dirty="0"/>
              <a:t>Linux.</a:t>
            </a:r>
          </a:p>
          <a:p>
            <a:pPr marL="0" indent="0">
              <a:buNone/>
            </a:pPr>
            <a:r>
              <a:rPr lang="en-US" sz="2000" b="1" dirty="0"/>
              <a:t>Duplicity / Acronis:</a:t>
            </a:r>
            <a:r>
              <a:rPr lang="en-US" sz="2000" dirty="0"/>
              <a:t> </a:t>
            </a:r>
            <a:r>
              <a:rPr lang="ru-RU" sz="2000" dirty="0"/>
              <a:t>Для гибридных сред 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45676" y="1806500"/>
            <a:ext cx="8672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Самое важное правило: 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«Без </a:t>
            </a:r>
            <a:r>
              <a:rPr lang="ru-RU" b="1" i="0" dirty="0" err="1" smtClean="0">
                <a:solidFill>
                  <a:srgbClr val="0F1115"/>
                </a:solidFill>
                <a:effectLst/>
                <a:latin typeface="quote-cjk-patch"/>
              </a:rPr>
              <a:t>бэкапов</a:t>
            </a:r>
            <a:r>
              <a:rPr lang="ru-RU" b="1" i="0" dirty="0" smtClean="0">
                <a:solidFill>
                  <a:srgbClr val="0F1115"/>
                </a:solidFill>
                <a:effectLst/>
                <a:latin typeface="quote-cjk-patch"/>
              </a:rPr>
              <a:t> ты не администратор, а любитель»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649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Типичные проблемы и их </a:t>
            </a:r>
            <a:r>
              <a:rPr lang="ru-RU" b="1" dirty="0" smtClean="0"/>
              <a:t>решение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08" y="1690687"/>
            <a:ext cx="11260121" cy="42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59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884971"/>
            <a:ext cx="9144000" cy="2387600"/>
          </a:xfrm>
        </p:spPr>
        <p:txBody>
          <a:bodyPr/>
          <a:lstStyle/>
          <a:p>
            <a:r>
              <a:rPr lang="ru-RU" b="1" dirty="0" smtClean="0"/>
              <a:t>Спасибо  за внимание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4790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181</Words>
  <Application>Microsoft Office PowerPoint</Application>
  <PresentationFormat>Широкоэкранный</PresentationFormat>
  <Paragraphs>82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Menlo</vt:lpstr>
      <vt:lpstr>quote-cjk-patch</vt:lpstr>
      <vt:lpstr>Тема Office</vt:lpstr>
      <vt:lpstr> Виды серверного программного обеспечения. Установка и обслуживание.</vt:lpstr>
      <vt:lpstr>Что такое Серверное ПО?</vt:lpstr>
      <vt:lpstr>Презентация PowerPoint</vt:lpstr>
      <vt:lpstr>Классификация.  Базовая инфраструктура</vt:lpstr>
      <vt:lpstr>Классификация. Специализированные серверы</vt:lpstr>
      <vt:lpstr>Процесс установки серверного ПО</vt:lpstr>
      <vt:lpstr>Презентация PowerPoint</vt:lpstr>
      <vt:lpstr>FireWall</vt:lpstr>
      <vt:lpstr>Обслуживание серверов (Maintenance)</vt:lpstr>
      <vt:lpstr>Презентация PowerPoint</vt:lpstr>
      <vt:lpstr>Резервное копирование и восстановление (Backup &amp; Recovery)</vt:lpstr>
      <vt:lpstr>Типичные проблемы и их решение</vt:lpstr>
      <vt:lpstr>Спасибо 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Виды серверного программного обеспечения. Установка и обслуживание.</dc:title>
  <dc:creator>Михаил</dc:creator>
  <cp:lastModifiedBy>Михаил</cp:lastModifiedBy>
  <cp:revision>12</cp:revision>
  <dcterms:created xsi:type="dcterms:W3CDTF">2026-05-02T14:50:17Z</dcterms:created>
  <dcterms:modified xsi:type="dcterms:W3CDTF">2026-05-02T16:28:05Z</dcterms:modified>
</cp:coreProperties>
</file>