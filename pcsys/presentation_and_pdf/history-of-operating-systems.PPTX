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22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0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75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0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485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56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6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12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95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71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55EB9-37D8-4D3C-B14B-42ABA0250BB0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E165E-98E5-498D-A0F7-74ECE8E44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65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9666" y="1342171"/>
            <a:ext cx="10371992" cy="2387600"/>
          </a:xfrm>
        </p:spPr>
        <p:txBody>
          <a:bodyPr>
            <a:normAutofit fontScale="90000"/>
          </a:bodyPr>
          <a:lstStyle/>
          <a:p>
            <a:r>
              <a:rPr lang="ru-RU" sz="6600" b="1" dirty="0"/>
              <a:t>И</a:t>
            </a:r>
            <a:r>
              <a:rPr lang="ru-RU" sz="6600" b="1" dirty="0" smtClean="0"/>
              <a:t>стория операционных </a:t>
            </a:r>
            <a:r>
              <a:rPr lang="ru-RU" sz="6600" b="1" dirty="0" smtClean="0"/>
              <a:t>систем</a:t>
            </a:r>
            <a:r>
              <a:rPr lang="ru-RU" sz="6600" dirty="0" smtClean="0"/>
              <a:t/>
            </a:r>
            <a:br>
              <a:rPr lang="ru-RU" sz="6600" dirty="0" smtClean="0"/>
            </a:br>
            <a:r>
              <a:rPr lang="ru-RU" sz="6600" dirty="0" smtClean="0"/>
              <a:t/>
            </a:r>
            <a:br>
              <a:rPr lang="ru-RU" sz="6600" dirty="0" smtClean="0"/>
            </a:br>
            <a:r>
              <a:rPr lang="en-US" sz="3100" b="1" dirty="0" err="1" smtClean="0"/>
              <a:t>Эволюция</a:t>
            </a:r>
            <a:r>
              <a:rPr lang="en-US" sz="3100" b="1" dirty="0" smtClean="0"/>
              <a:t> </a:t>
            </a:r>
            <a:r>
              <a:rPr lang="en-US" sz="3100" b="1" dirty="0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en-US" sz="3100" b="1" dirty="0"/>
              <a:t>, mac</a:t>
            </a:r>
            <a:r>
              <a:rPr lang="en-US" sz="3100" b="1" dirty="0">
                <a:solidFill>
                  <a:schemeClr val="accent1"/>
                </a:solidFill>
              </a:rPr>
              <a:t>OS</a:t>
            </a:r>
            <a:r>
              <a:rPr lang="en-US" sz="3100" b="1" dirty="0"/>
              <a:t> и </a:t>
            </a:r>
            <a:r>
              <a:rPr lang="en-US" sz="3100" b="1" dirty="0">
                <a:solidFill>
                  <a:schemeClr val="accent2"/>
                </a:solidFill>
              </a:rPr>
              <a:t>Linux</a:t>
            </a:r>
            <a:endParaRPr lang="ru-RU" sz="3100" b="1" dirty="0">
              <a:solidFill>
                <a:schemeClr val="accent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06112" y="4279046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3600" dirty="0" smtClean="0"/>
              <a:t>ИПо9581</a:t>
            </a:r>
            <a:br>
              <a:rPr lang="ru-RU" sz="3600" dirty="0" smtClean="0"/>
            </a:br>
            <a:r>
              <a:rPr lang="ru-RU" sz="3600" dirty="0" smtClean="0"/>
              <a:t>Лехман М.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30914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1356"/>
            <a:ext cx="10515600" cy="1325563"/>
          </a:xfrm>
        </p:spPr>
        <p:txBody>
          <a:bodyPr/>
          <a:lstStyle/>
          <a:p>
            <a:r>
              <a:rPr lang="ru-RU" b="1" dirty="0"/>
              <a:t>Три столпа современной цифровой эры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26919"/>
            <a:ext cx="10515600" cy="4351338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ru-RU" b="1" dirty="0"/>
              <a:t>:</a:t>
            </a:r>
            <a:r>
              <a:rPr lang="ru-RU" dirty="0"/>
              <a:t> Доминирование на рынке ПК, доступность для масс.</a:t>
            </a:r>
          </a:p>
          <a:p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</a:t>
            </a:r>
            <a:r>
              <a:rPr lang="ru-RU" b="1" dirty="0">
                <a:solidFill>
                  <a:schemeClr val="accent1"/>
                </a:solidFill>
              </a:rPr>
              <a:t>OS</a:t>
            </a:r>
            <a:r>
              <a:rPr lang="ru-RU" b="1" dirty="0"/>
              <a:t>:</a:t>
            </a:r>
            <a:r>
              <a:rPr lang="ru-RU" dirty="0"/>
              <a:t> Интеграция железа и софта, фокус на дизайне и пользовательском опыте.</a:t>
            </a:r>
          </a:p>
          <a:p>
            <a:r>
              <a:rPr lang="ru-RU" b="1" dirty="0">
                <a:solidFill>
                  <a:schemeClr val="accent2"/>
                </a:solidFill>
              </a:rPr>
              <a:t>Linux</a:t>
            </a:r>
            <a:r>
              <a:rPr lang="ru-RU" b="1" dirty="0"/>
              <a:t>:</a:t>
            </a:r>
            <a:r>
              <a:rPr lang="ru-RU" dirty="0"/>
              <a:t> Свобода, открытость и сообщество как движущая сила.</a:t>
            </a:r>
          </a:p>
          <a:p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5" b="7191"/>
          <a:stretch/>
        </p:blipFill>
        <p:spPr bwMode="auto">
          <a:xfrm>
            <a:off x="2057399" y="3261947"/>
            <a:ext cx="7318531" cy="3525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22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Microsoft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ru-RU" b="1" dirty="0"/>
              <a:t>: Путь к глобальному доминированию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ru-RU" b="1" dirty="0"/>
              <a:t> 1.0-3.x (1985-1992):</a:t>
            </a:r>
            <a:r>
              <a:rPr lang="ru-RU" dirty="0"/>
              <a:t> Не самостоятельная ОС, а графическая оболочка для MS-DOS</a:t>
            </a:r>
            <a:r>
              <a:rPr lang="ru-RU" sz="1100" dirty="0" smtClean="0">
                <a:solidFill>
                  <a:schemeClr val="bg2">
                    <a:lumMod val="50000"/>
                  </a:schemeClr>
                </a:solidFill>
              </a:rPr>
              <a:t>.(</a:t>
            </a:r>
            <a:r>
              <a:rPr lang="ru-RU" sz="1100" dirty="0">
                <a:solidFill>
                  <a:schemeClr val="bg2">
                    <a:lumMod val="50000"/>
                  </a:schemeClr>
                </a:solidFill>
              </a:rPr>
              <a:t>Microsoft Disk Operating System) — </a:t>
            </a:r>
            <a:r>
              <a:rPr lang="ru-RU" sz="1100" b="1" dirty="0">
                <a:solidFill>
                  <a:schemeClr val="bg2">
                    <a:lumMod val="50000"/>
                  </a:schemeClr>
                </a:solidFill>
              </a:rPr>
              <a:t>дисковая операционная система фирмы</a:t>
            </a:r>
            <a:endParaRPr lang="ru-RU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ru-RU" b="1" dirty="0"/>
              <a:t>Ключевая инновация:</a:t>
            </a:r>
            <a:r>
              <a:rPr lang="ru-RU" dirty="0"/>
              <a:t> Графический интерфейс (GUI) и многозадачность для IBM PC-совместимых компьютеров</a:t>
            </a:r>
            <a:r>
              <a:rPr lang="ru-RU" dirty="0" smtClean="0"/>
              <a:t>.</a:t>
            </a:r>
          </a:p>
          <a:p>
            <a:r>
              <a:rPr lang="ru-RU" b="1" dirty="0"/>
              <a:t>(1985-1990</a:t>
            </a:r>
            <a:r>
              <a:rPr lang="ru-RU" b="1" dirty="0" smtClean="0"/>
              <a:t>)</a:t>
            </a:r>
          </a:p>
          <a:p>
            <a:r>
              <a:rPr lang="ru-RU" dirty="0"/>
              <a:t>Ответ на </a:t>
            </a:r>
            <a:r>
              <a:rPr lang="ru-R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Apple</a:t>
            </a:r>
            <a:r>
              <a:rPr lang="ru-RU" dirty="0"/>
              <a:t> </a:t>
            </a:r>
            <a:r>
              <a:rPr lang="ru-RU" dirty="0" err="1"/>
              <a:t>Macintosh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Дебют </a:t>
            </a:r>
            <a:r>
              <a:rPr lang="ru-RU" dirty="0"/>
              <a:t>знакомых элементов — окон, меню, мыши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sz="1400" b="1" dirty="0">
                <a:solidFill>
                  <a:schemeClr val="bg2">
                    <a:lumMod val="50000"/>
                  </a:schemeClr>
                </a:solidFill>
              </a:rPr>
              <a:t>Графический интерфейс </a:t>
            </a:r>
            <a:r>
              <a:rPr lang="ru-RU" sz="1400" b="1" dirty="0" smtClean="0">
                <a:solidFill>
                  <a:schemeClr val="bg2">
                    <a:lumMod val="50000"/>
                  </a:schemeClr>
                </a:solidFill>
              </a:rPr>
              <a:t>пользователя</a:t>
            </a:r>
          </a:p>
          <a:p>
            <a:pPr marL="0" indent="0">
              <a:buNone/>
            </a:pPr>
            <a:r>
              <a:rPr lang="ru-RU" sz="1400" b="1" dirty="0" smtClean="0">
                <a:solidFill>
                  <a:schemeClr val="bg2">
                    <a:lumMod val="50000"/>
                  </a:schemeClr>
                </a:solidFill>
              </a:rPr>
              <a:t>(GUI </a:t>
            </a:r>
            <a:r>
              <a:rPr lang="ru-RU" sz="1400" b="1" dirty="0">
                <a:solidFill>
                  <a:schemeClr val="bg2">
                    <a:lumMod val="50000"/>
                  </a:schemeClr>
                </a:solidFill>
              </a:rPr>
              <a:t>— </a:t>
            </a:r>
            <a:r>
              <a:rPr lang="ru-RU" sz="1400" b="1" dirty="0" err="1">
                <a:solidFill>
                  <a:schemeClr val="bg2">
                    <a:lumMod val="50000"/>
                  </a:schemeClr>
                </a:solidFill>
              </a:rPr>
              <a:t>Graphical</a:t>
            </a:r>
            <a:r>
              <a:rPr lang="ru-RU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bg2">
                    <a:lumMod val="50000"/>
                  </a:schemeClr>
                </a:solidFill>
              </a:rPr>
              <a:t>User</a:t>
            </a:r>
            <a:r>
              <a:rPr lang="ru-RU" sz="14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sz="1400" b="1" dirty="0" err="1">
                <a:solidFill>
                  <a:schemeClr val="bg2">
                    <a:lumMod val="50000"/>
                  </a:schemeClr>
                </a:solidFill>
              </a:rPr>
              <a:t>Interface</a:t>
            </a:r>
            <a:r>
              <a:rPr lang="ru-RU" sz="1400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ru-RU" sz="1400" dirty="0">
              <a:solidFill>
                <a:schemeClr val="bg2">
                  <a:lumMod val="50000"/>
                </a:schemeClr>
              </a:solidFill>
            </a:endParaRPr>
          </a:p>
          <a:p>
            <a:endParaRPr lang="ru-RU" dirty="0"/>
          </a:p>
        </p:txBody>
      </p:sp>
      <p:pic>
        <p:nvPicPr>
          <p:cNvPr id="2050" name="Picture 2" descr="https://avatars.mds.yandex.net/get-entity_search/5488405/551758537/S600x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238" y="4001294"/>
            <a:ext cx="2227140" cy="178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9611550" y="6002753"/>
            <a:ext cx="146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Windows 3.1.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260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2563"/>
            <a:ext cx="10515600" cy="1325563"/>
          </a:xfrm>
        </p:spPr>
        <p:txBody>
          <a:bodyPr/>
          <a:lstStyle/>
          <a:p>
            <a:r>
              <a:rPr lang="ru-RU" b="1" dirty="0"/>
              <a:t>Революция для масс (1990-2000)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43708" y="142069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                           (</a:t>
            </a:r>
            <a:r>
              <a:rPr lang="ru-RU" b="1" dirty="0"/>
              <a:t>1995):</a:t>
            </a:r>
            <a:r>
              <a:rPr lang="ru-RU" dirty="0"/>
              <a:t> Культовый релиз. Появление меню "</a:t>
            </a:r>
            <a:r>
              <a:rPr lang="ru-RU" dirty="0">
                <a:solidFill>
                  <a:srgbClr val="0070C0"/>
                </a:solidFill>
              </a:rPr>
              <a:t>Пуск</a:t>
            </a:r>
            <a:r>
              <a:rPr lang="ru-RU" dirty="0"/>
              <a:t>", панели задач, рабочего стола в современном понимании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 smtClean="0"/>
              <a:t>			:</a:t>
            </a:r>
            <a:r>
              <a:rPr lang="ru-RU" dirty="0"/>
              <a:t> Эволюция, улучшение поддержки оборудования и мультимедиа</a:t>
            </a:r>
            <a:r>
              <a:rPr lang="ru-RU" dirty="0" smtClean="0"/>
              <a:t>.(</a:t>
            </a:r>
            <a:r>
              <a:rPr lang="en-US" dirty="0" err="1" smtClean="0">
                <a:solidFill>
                  <a:schemeClr val="accent6"/>
                </a:solidFill>
              </a:rPr>
              <a:t>Milenium</a:t>
            </a:r>
            <a:r>
              <a:rPr lang="en-US" dirty="0" smtClean="0">
                <a:solidFill>
                  <a:schemeClr val="accent6"/>
                </a:solidFill>
              </a:rPr>
              <a:t> Edition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Бизнес-линия: </a:t>
            </a:r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ru-RU" b="1" dirty="0"/>
              <a:t> NT (1993-2000):</a:t>
            </a:r>
            <a:r>
              <a:rPr lang="ru-RU" dirty="0"/>
              <a:t> Фундамент для будущего. Надежность, безопасность, сетевая поддержка (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ru-RU" dirty="0"/>
              <a:t> NT 4.0, 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ru-RU" dirty="0"/>
              <a:t> 2000).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84" y="1304373"/>
            <a:ext cx="2197367" cy="441326"/>
          </a:xfrm>
          <a:prstGeom prst="rect">
            <a:avLst/>
          </a:prstGeom>
        </p:spPr>
      </p:pic>
      <p:pic>
        <p:nvPicPr>
          <p:cNvPr id="3078" name="Picture 6" descr="https://avatars.mds.yandex.net/get-entity_search/69916/102389123/S600x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913" y="2521833"/>
            <a:ext cx="2115017" cy="60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6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623" y="189278"/>
            <a:ext cx="10515600" cy="1325563"/>
          </a:xfrm>
        </p:spPr>
        <p:txBody>
          <a:bodyPr/>
          <a:lstStyle/>
          <a:p>
            <a:r>
              <a:rPr lang="ru-RU" b="1" dirty="0"/>
              <a:t>Эпоха модерна и универсальности (2012 - </a:t>
            </a:r>
            <a:r>
              <a:rPr lang="ru-RU" b="1" dirty="0" err="1"/>
              <a:t>н.в</a:t>
            </a:r>
            <a:r>
              <a:rPr lang="ru-RU" b="1" dirty="0"/>
              <a:t>.)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1146" y="151484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ru-RU" sz="3200" b="1" dirty="0"/>
              <a:t>Windows 8/8.1 (2012):</a:t>
            </a:r>
            <a:r>
              <a:rPr lang="ru-RU" sz="3200" dirty="0"/>
              <a:t> Радикальный сдвиг </a:t>
            </a:r>
            <a:r>
              <a:rPr lang="ru-RU" sz="3200" dirty="0" smtClean="0"/>
              <a:t>к </a:t>
            </a:r>
            <a:r>
              <a:rPr lang="ru-RU" sz="3200" dirty="0"/>
              <a:t>сенсорным экранам (интерфейс </a:t>
            </a:r>
            <a:r>
              <a:rPr lang="ru-RU" sz="3200" dirty="0" err="1"/>
              <a:t>Metro</a:t>
            </a:r>
            <a:r>
              <a:rPr lang="ru-RU" sz="3200" dirty="0"/>
              <a:t>/</a:t>
            </a:r>
            <a:r>
              <a:rPr lang="ru-RU" sz="3200" dirty="0" err="1"/>
              <a:t>Modern</a:t>
            </a:r>
            <a:r>
              <a:rPr lang="ru-RU" sz="3200" dirty="0"/>
              <a:t> UI). Исчезновение кнопки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</a:rPr>
              <a:t>"Пуск" </a:t>
            </a:r>
            <a:r>
              <a:rPr lang="ru-RU" sz="3200" dirty="0"/>
              <a:t>вызвало шквал критики.</a:t>
            </a:r>
          </a:p>
          <a:p>
            <a:r>
              <a:rPr lang="ru-RU" sz="3200" b="1" dirty="0" smtClean="0"/>
              <a:t>Windows </a:t>
            </a:r>
            <a:r>
              <a:rPr lang="ru-RU" sz="3200" b="1" dirty="0"/>
              <a:t>10 (2015):</a:t>
            </a:r>
            <a:r>
              <a:rPr lang="ru-RU" sz="3200" dirty="0"/>
              <a:t> Возврат к привычному десктопу с элементами модерна. Модель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</a:rPr>
              <a:t>"ОС как услуга" </a:t>
            </a:r>
            <a:r>
              <a:rPr lang="ru-RU" sz="3200" dirty="0"/>
              <a:t>(постоянные обновления). Интеграция голосового помощника </a:t>
            </a:r>
            <a:r>
              <a:rPr lang="ru-RU" sz="3200" dirty="0" err="1"/>
              <a:t>Cortana</a:t>
            </a:r>
            <a:r>
              <a:rPr lang="ru-RU" sz="3200" dirty="0"/>
              <a:t>.</a:t>
            </a:r>
          </a:p>
          <a:p>
            <a:r>
              <a:rPr lang="ru-RU" sz="3200" b="1" dirty="0"/>
              <a:t>Windows 11 (2021):</a:t>
            </a:r>
            <a:r>
              <a:rPr lang="ru-RU" sz="3200" dirty="0"/>
              <a:t> Современный </a:t>
            </a:r>
            <a:r>
              <a:rPr lang="ru-RU" sz="3200" dirty="0" err="1"/>
              <a:t>редизайн</a:t>
            </a:r>
            <a:r>
              <a:rPr lang="ru-RU" sz="3200" dirty="0"/>
              <a:t> (центрированное меню "</a:t>
            </a:r>
            <a:r>
              <a:rPr lang="ru-RU" sz="3200" dirty="0">
                <a:solidFill>
                  <a:srgbClr val="0070C0"/>
                </a:solidFill>
              </a:rPr>
              <a:t>Пуск</a:t>
            </a:r>
            <a:r>
              <a:rPr lang="ru-RU" sz="3200" dirty="0"/>
              <a:t>", скругленные углы), углубленная интеграция с экосистемой </a:t>
            </a:r>
            <a:r>
              <a:rPr lang="ru-RU" sz="3200" dirty="0">
                <a:solidFill>
                  <a:schemeClr val="accent1">
                    <a:lumMod val="50000"/>
                  </a:schemeClr>
                </a:solidFill>
              </a:rPr>
              <a:t>Microsoft</a:t>
            </a:r>
            <a:r>
              <a:rPr lang="ru-RU" sz="32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71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72652"/>
            <a:ext cx="10515600" cy="1325563"/>
          </a:xfrm>
        </p:spPr>
        <p:txBody>
          <a:bodyPr/>
          <a:lstStyle/>
          <a:p>
            <a:r>
              <a:rPr lang="ru-RU" b="1" dirty="0" smtClean="0"/>
              <a:t>Эволюция меню пуск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4" name="Picture 2" descr="https://i.ytimg.com/vi/aLKWH0sldlg/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79" y="1370806"/>
            <a:ext cx="8365501" cy="470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48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50840"/>
            <a:ext cx="10029092" cy="3854206"/>
          </a:xfrm>
        </p:spPr>
        <p:txBody>
          <a:bodyPr/>
          <a:lstStyle/>
          <a:p>
            <a:r>
              <a:rPr lang="ru-RU" sz="3200" b="1" dirty="0"/>
              <a:t>Классическая эпоха (</a:t>
            </a:r>
            <a:r>
              <a:rPr lang="ru-RU" sz="3200" b="1" dirty="0" smtClean="0"/>
              <a:t>1984-2001)</a:t>
            </a:r>
          </a:p>
          <a:p>
            <a:pPr marL="0" indent="0">
              <a:buNone/>
            </a:pPr>
            <a:r>
              <a:rPr lang="ru-RU" sz="2400" b="1" dirty="0"/>
              <a:t>System 1 - </a:t>
            </a:r>
            <a:r>
              <a:rPr lang="ru-RU" sz="2400" b="1" dirty="0" err="1"/>
              <a:t>Mac</a:t>
            </a:r>
            <a:r>
              <a:rPr lang="ru-RU" sz="2400" b="1" dirty="0"/>
              <a:t> </a:t>
            </a:r>
            <a:r>
              <a:rPr lang="ru-RU" sz="2400" b="1" dirty="0">
                <a:solidFill>
                  <a:schemeClr val="accent1"/>
                </a:solidFill>
              </a:rPr>
              <a:t>OS</a:t>
            </a:r>
            <a:r>
              <a:rPr lang="ru-RU" sz="2400" b="1" dirty="0"/>
              <a:t> 9 (1984-2001):</a:t>
            </a:r>
            <a:r>
              <a:rPr lang="ru-RU" sz="2400" dirty="0"/>
              <a:t> Первая успешная коммерческая ОС с графическим интерфейсом для масс. Идея "все в одном" — компьютер для всех.</a:t>
            </a:r>
          </a:p>
          <a:p>
            <a:pPr marL="0" indent="0">
              <a:buNone/>
            </a:pPr>
            <a:r>
              <a:rPr lang="ru-RU" sz="2400" b="1" dirty="0"/>
              <a:t>Принципы:</a:t>
            </a:r>
            <a:r>
              <a:rPr lang="ru-RU" sz="2400" dirty="0"/>
              <a:t> Интуитивность, ориентированность на пользователя, жесткая привязка к "железу"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</a:rPr>
              <a:t>Apple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b="1" dirty="0"/>
              <a:t>Проблемы:</a:t>
            </a:r>
            <a:r>
              <a:rPr lang="ru-RU" sz="2400" dirty="0"/>
              <a:t> Закрытость архитектуры, отсутствие защищенной памяти, многозадачность.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124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2" t="770" r="64785" b="78680"/>
          <a:stretch/>
        </p:blipFill>
        <p:spPr bwMode="auto">
          <a:xfrm>
            <a:off x="3144711" y="4616929"/>
            <a:ext cx="3068516" cy="178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>
                <a:solidFill>
                  <a:schemeClr val="bg2">
                    <a:lumMod val="50000"/>
                  </a:schemeClr>
                </a:solidFill>
              </a:rPr>
              <a:t>Apple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 mac</a:t>
            </a:r>
            <a:r>
              <a:rPr lang="ru-RU" b="1" dirty="0">
                <a:solidFill>
                  <a:schemeClr val="accent1"/>
                </a:solidFill>
              </a:rPr>
              <a:t>OS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ru-RU" b="1" dirty="0"/>
              <a:t>(</a:t>
            </a:r>
            <a:r>
              <a:rPr lang="ru-RU" b="1" dirty="0" err="1"/>
              <a:t>Mac</a:t>
            </a:r>
            <a:r>
              <a:rPr lang="ru-RU" b="1" dirty="0"/>
              <a:t> OS X): Элегантность и экосистема</a:t>
            </a:r>
            <a:br>
              <a:rPr lang="ru-RU" b="1" dirty="0"/>
            </a:br>
            <a:endParaRPr lang="ru-RU" dirty="0"/>
          </a:p>
        </p:txBody>
      </p:sp>
      <p:pic>
        <p:nvPicPr>
          <p:cNvPr id="5122" name="Picture 2" descr="https://avatars.mds.yandex.net/get-entity_search/1634327/433977397/S600x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867" y="7087740"/>
            <a:ext cx="1611679" cy="188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avatars.mds.yandex.net/get-entity_search/1634327/433977397/S600xU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933" y="4651184"/>
            <a:ext cx="1429326" cy="167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09070" y="5302675"/>
            <a:ext cx="1196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Логотипы: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03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3753" y="180487"/>
            <a:ext cx="10515600" cy="1325563"/>
          </a:xfrm>
        </p:spPr>
        <p:txBody>
          <a:bodyPr/>
          <a:lstStyle/>
          <a:p>
            <a:r>
              <a:rPr lang="ru-RU" b="1" dirty="0"/>
              <a:t>Рождение современной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mac</a:t>
            </a:r>
            <a:r>
              <a:rPr lang="en-US" b="1" dirty="0">
                <a:solidFill>
                  <a:schemeClr val="accent1"/>
                </a:solidFill>
              </a:rPr>
              <a:t>OS</a:t>
            </a:r>
            <a:r>
              <a:rPr lang="en-US" b="1" dirty="0"/>
              <a:t> (2001)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4431" y="1359633"/>
            <a:ext cx="10515600" cy="4351338"/>
          </a:xfrm>
        </p:spPr>
        <p:txBody>
          <a:bodyPr/>
          <a:lstStyle/>
          <a:p>
            <a:r>
              <a:rPr lang="en-US" b="1" dirty="0"/>
              <a:t>Mac OS X 10.0 Cheetah (2001):</a:t>
            </a:r>
            <a:r>
              <a:rPr lang="en-US" dirty="0"/>
              <a:t> </a:t>
            </a:r>
            <a:r>
              <a:rPr lang="ru-RU" dirty="0"/>
              <a:t>Революция "под капотом". Основана на </a:t>
            </a:r>
            <a:r>
              <a:rPr lang="en-US" dirty="0" err="1"/>
              <a:t>NeXTSTEP</a:t>
            </a:r>
            <a:r>
              <a:rPr lang="en-US" dirty="0"/>
              <a:t> (UNIX-</a:t>
            </a:r>
            <a:r>
              <a:rPr lang="ru-RU" dirty="0"/>
              <a:t>подобная ОС компании </a:t>
            </a:r>
            <a:r>
              <a:rPr lang="en-US" dirty="0"/>
              <a:t>NeXT </a:t>
            </a:r>
            <a:r>
              <a:rPr lang="ru-RU" dirty="0"/>
              <a:t>Стива Джобса).</a:t>
            </a:r>
          </a:p>
          <a:p>
            <a:r>
              <a:rPr lang="ru-RU" b="1" dirty="0"/>
              <a:t>Фундамент (</a:t>
            </a:r>
            <a:r>
              <a:rPr lang="en-US" b="1" dirty="0"/>
              <a:t>Darwin):</a:t>
            </a:r>
            <a:r>
              <a:rPr lang="en-US" dirty="0"/>
              <a:t> </a:t>
            </a:r>
            <a:r>
              <a:rPr lang="ru-RU" dirty="0"/>
              <a:t>Ядро </a:t>
            </a:r>
            <a:r>
              <a:rPr lang="en-US" u="sng" dirty="0">
                <a:solidFill>
                  <a:schemeClr val="bg2">
                    <a:lumMod val="50000"/>
                  </a:schemeClr>
                </a:solidFill>
              </a:rPr>
              <a:t>XNU</a:t>
            </a:r>
            <a:r>
              <a:rPr lang="en-US" dirty="0"/>
              <a:t> (</a:t>
            </a:r>
            <a:r>
              <a:rPr lang="ru-RU" dirty="0"/>
              <a:t>гибридное), слой </a:t>
            </a:r>
            <a:r>
              <a:rPr lang="en-US" dirty="0"/>
              <a:t>BSD Unix — </a:t>
            </a:r>
            <a:r>
              <a:rPr lang="ru-RU" dirty="0"/>
              <a:t>стабильность, безопасность, многозадачность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sz="1800" b="1" dirty="0" smtClean="0"/>
              <a:t>	</a:t>
            </a:r>
            <a:r>
              <a:rPr lang="en-US" sz="1800" b="1" u="sng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XNU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(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акроним англ. </a:t>
            </a: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 is Not Unix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— «X — </a:t>
            </a:r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не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Unix»)</a:t>
            </a:r>
            <a:endParaRPr lang="ru-RU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b="1" dirty="0"/>
              <a:t>Интерфейс </a:t>
            </a:r>
            <a:r>
              <a:rPr lang="en-US" b="1" dirty="0"/>
              <a:t>Aqua:</a:t>
            </a:r>
            <a:r>
              <a:rPr lang="en-US" dirty="0"/>
              <a:t> </a:t>
            </a:r>
            <a:r>
              <a:rPr lang="ru-RU" dirty="0"/>
              <a:t>Иконки с фотореализмом, панель </a:t>
            </a:r>
            <a:r>
              <a:rPr lang="en-US" dirty="0"/>
              <a:t>Dock, </a:t>
            </a:r>
            <a:r>
              <a:rPr lang="ru-RU" dirty="0"/>
              <a:t>визуальные эффекты (генерация воды) — шок для индустрии.</a:t>
            </a:r>
          </a:p>
          <a:p>
            <a:endParaRPr lang="ru-RU" dirty="0"/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30" y="4876755"/>
            <a:ext cx="9140825" cy="180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01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6"/>
          <a:stretch/>
        </p:blipFill>
        <p:spPr bwMode="auto">
          <a:xfrm>
            <a:off x="7218728" y="3385039"/>
            <a:ext cx="4014919" cy="304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8584" y="0"/>
            <a:ext cx="10515600" cy="1325563"/>
          </a:xfrm>
        </p:spPr>
        <p:txBody>
          <a:bodyPr/>
          <a:lstStyle/>
          <a:p>
            <a:r>
              <a:rPr lang="ru-RU" b="1" dirty="0"/>
              <a:t> </a:t>
            </a:r>
            <a:r>
              <a:rPr lang="ru-RU" b="1" u="sng" dirty="0"/>
              <a:t>Новая эра </a:t>
            </a:r>
            <a:r>
              <a:rPr lang="ru-RU" b="1" dirty="0"/>
              <a:t>на собственных чипах (2020 </a:t>
            </a:r>
            <a:r>
              <a:rPr lang="ru-RU" b="1" dirty="0" smtClean="0"/>
              <a:t>-</a:t>
            </a:r>
            <a:r>
              <a:rPr lang="ru-RU" b="1" dirty="0" err="1" smtClean="0"/>
              <a:t>н.в</a:t>
            </a:r>
            <a:r>
              <a:rPr lang="ru-RU" b="1" dirty="0"/>
              <a:t>.)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92" y="1325563"/>
            <a:ext cx="10515600" cy="4351338"/>
          </a:xfrm>
        </p:spPr>
        <p:txBody>
          <a:bodyPr/>
          <a:lstStyle/>
          <a:p>
            <a:r>
              <a:rPr lang="ru-RU" b="1" dirty="0"/>
              <a:t>Переход на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Apple</a:t>
            </a:r>
            <a:r>
              <a:rPr lang="en-US" b="1" dirty="0"/>
              <a:t> Silicon (M1, M2, M3...):</a:t>
            </a:r>
            <a:r>
              <a:rPr lang="en-US" dirty="0"/>
              <a:t> </a:t>
            </a:r>
            <a:r>
              <a:rPr lang="ru-RU" dirty="0"/>
              <a:t>Контроль над всем стеком "железо-софт". Беспрецедентная </a:t>
            </a:r>
            <a:r>
              <a:rPr lang="ru-RU" dirty="0" err="1"/>
              <a:t>энергоэффективность</a:t>
            </a:r>
            <a:r>
              <a:rPr lang="ru-RU" dirty="0"/>
              <a:t> и производительность.</a:t>
            </a:r>
          </a:p>
          <a:p>
            <a:r>
              <a:rPr lang="en-US" b="1" dirty="0"/>
              <a:t>mac</a:t>
            </a:r>
            <a:r>
              <a:rPr lang="en-US" b="1" dirty="0">
                <a:solidFill>
                  <a:schemeClr val="accent1"/>
                </a:solidFill>
              </a:rPr>
              <a:t>OS</a:t>
            </a:r>
            <a:r>
              <a:rPr lang="en-US" b="1" dirty="0"/>
              <a:t> Monterey, Ventura, Sonoma:</a:t>
            </a:r>
            <a:r>
              <a:rPr lang="en-US" dirty="0"/>
              <a:t> </a:t>
            </a:r>
            <a:r>
              <a:rPr lang="ru-RU" dirty="0"/>
              <a:t>Углубление интеграции с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iPhone</a:t>
            </a:r>
            <a:r>
              <a:rPr lang="en-US" dirty="0"/>
              <a:t>/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iPad</a:t>
            </a:r>
            <a:r>
              <a:rPr lang="en-US" dirty="0"/>
              <a:t> (Universal Control), </a:t>
            </a:r>
            <a:r>
              <a:rPr lang="ru-RU" dirty="0"/>
              <a:t>переосмысление многозадачности (</a:t>
            </a:r>
            <a:r>
              <a:rPr lang="en-US" dirty="0"/>
              <a:t>Stage Manager).</a:t>
            </a:r>
          </a:p>
          <a:p>
            <a:endParaRPr lang="ru-RU" dirty="0"/>
          </a:p>
        </p:txBody>
      </p:sp>
      <p:pic>
        <p:nvPicPr>
          <p:cNvPr id="8198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62" y="3897794"/>
            <a:ext cx="5389007" cy="243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89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353" y="0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2"/>
                </a:solidFill>
              </a:rPr>
              <a:t>Linux</a:t>
            </a:r>
            <a:r>
              <a:rPr lang="ru-RU" b="1" dirty="0"/>
              <a:t>: Сила сообщества и открытого </a:t>
            </a:r>
            <a:r>
              <a:rPr lang="ru-RU" b="1" dirty="0" smtClean="0"/>
              <a:t>кода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2353" y="121895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Рождение (1991</a:t>
            </a:r>
            <a:r>
              <a:rPr lang="ru-RU" b="1" dirty="0" smtClean="0"/>
              <a:t>)</a:t>
            </a:r>
            <a:endParaRPr lang="en-US" b="1" dirty="0" smtClean="0"/>
          </a:p>
          <a:p>
            <a:r>
              <a:rPr lang="ru-RU" sz="2000" b="1" dirty="0" err="1"/>
              <a:t>Линус</a:t>
            </a:r>
            <a:r>
              <a:rPr lang="ru-RU" sz="2000" b="1" dirty="0"/>
              <a:t> </a:t>
            </a:r>
            <a:r>
              <a:rPr lang="ru-RU" sz="2000" b="1" dirty="0" err="1"/>
              <a:t>Торвальдс</a:t>
            </a:r>
            <a:r>
              <a:rPr lang="ru-RU" sz="2000" b="1" dirty="0"/>
              <a:t> (1991):</a:t>
            </a:r>
            <a:r>
              <a:rPr lang="ru-RU" sz="2000" dirty="0"/>
              <a:t> Создал ядро </a:t>
            </a:r>
            <a:r>
              <a:rPr lang="ru-RU" sz="2000" dirty="0" err="1">
                <a:solidFill>
                  <a:schemeClr val="accent2"/>
                </a:solidFill>
              </a:rPr>
              <a:t>Linux</a:t>
            </a:r>
            <a:r>
              <a:rPr lang="ru-RU" sz="2000" dirty="0"/>
              <a:t> как свободный клон MINIX (учебной ОС).</a:t>
            </a:r>
          </a:p>
          <a:p>
            <a:r>
              <a:rPr lang="ru-RU" sz="2000" b="1" dirty="0"/>
              <a:t>Философский фундамент:</a:t>
            </a:r>
            <a:r>
              <a:rPr lang="ru-RU" sz="2000" dirty="0"/>
              <a:t> Проект GNU Ричарда </a:t>
            </a:r>
            <a:r>
              <a:rPr lang="ru-RU" sz="2000" dirty="0" err="1"/>
              <a:t>Столлмана</a:t>
            </a:r>
            <a:r>
              <a:rPr lang="ru-RU" sz="2000" dirty="0"/>
              <a:t> (1983). Цель: создать свободную UNIX-подобную ОС. К 1991 году не было готового ядра</a:t>
            </a:r>
            <a:r>
              <a:rPr lang="ru-RU" sz="2000" dirty="0" smtClean="0"/>
              <a:t>.</a:t>
            </a:r>
            <a:r>
              <a:rPr lang="ru-RU" b="1" dirty="0"/>
              <a:t> </a:t>
            </a:r>
            <a:r>
              <a:rPr lang="ru-RU" sz="1050" b="1" dirty="0" err="1">
                <a:solidFill>
                  <a:schemeClr val="accent1"/>
                </a:solidFill>
              </a:rPr>
              <a:t>Unix</a:t>
            </a:r>
            <a:r>
              <a:rPr lang="ru-RU" sz="1050" dirty="0">
                <a:solidFill>
                  <a:schemeClr val="accent1"/>
                </a:solidFill>
              </a:rPr>
              <a:t> — </a:t>
            </a:r>
            <a:r>
              <a:rPr lang="ru-RU" sz="1050" b="1" dirty="0">
                <a:solidFill>
                  <a:schemeClr val="accent1"/>
                </a:solidFill>
              </a:rPr>
              <a:t>семейство переносимых, многозадачных и </a:t>
            </a:r>
            <a:r>
              <a:rPr lang="en-US" sz="1050" b="1" dirty="0" smtClean="0">
                <a:solidFill>
                  <a:schemeClr val="accent1"/>
                </a:solidFill>
              </a:rPr>
              <a:t>								</a:t>
            </a:r>
            <a:r>
              <a:rPr lang="ru-RU" sz="1050" b="1" dirty="0" smtClean="0">
                <a:solidFill>
                  <a:schemeClr val="accent1"/>
                </a:solidFill>
              </a:rPr>
              <a:t>многопользовательских </a:t>
            </a:r>
            <a:r>
              <a:rPr lang="ru-RU" sz="1050" b="1" dirty="0">
                <a:solidFill>
                  <a:schemeClr val="accent1"/>
                </a:solidFill>
              </a:rPr>
              <a:t>операционных систем</a:t>
            </a:r>
            <a:r>
              <a:rPr lang="ru-RU" sz="1050" dirty="0"/>
              <a:t>.</a:t>
            </a:r>
          </a:p>
          <a:p>
            <a:r>
              <a:rPr lang="ru-RU" sz="2000" b="1" dirty="0"/>
              <a:t>Синтез:</a:t>
            </a:r>
            <a:r>
              <a:rPr lang="ru-RU" sz="2000" dirty="0"/>
              <a:t> Ядро </a:t>
            </a:r>
            <a:r>
              <a:rPr lang="ru-RU" sz="2000" dirty="0" err="1"/>
              <a:t>Торвальдса</a:t>
            </a:r>
            <a:r>
              <a:rPr lang="ru-RU" sz="2000" dirty="0"/>
              <a:t> (</a:t>
            </a:r>
            <a:r>
              <a:rPr lang="ru-RU" sz="2000" dirty="0" err="1">
                <a:solidFill>
                  <a:schemeClr val="accent2"/>
                </a:solidFill>
              </a:rPr>
              <a:t>Linux</a:t>
            </a:r>
            <a:r>
              <a:rPr lang="ru-RU" sz="2000" dirty="0"/>
              <a:t>) + инструменты GNU = операционная система GNU/</a:t>
            </a:r>
            <a:r>
              <a:rPr lang="ru-RU" sz="2000" dirty="0" err="1">
                <a:solidFill>
                  <a:schemeClr val="accent2"/>
                </a:solidFill>
              </a:rPr>
              <a:t>Linux</a:t>
            </a:r>
            <a:r>
              <a:rPr lang="ru-RU" sz="2000" dirty="0"/>
              <a:t> (или просто </a:t>
            </a:r>
            <a:r>
              <a:rPr lang="ru-RU" sz="2000" dirty="0" err="1"/>
              <a:t>Linux</a:t>
            </a:r>
            <a:r>
              <a:rPr lang="ru-RU" sz="2000" dirty="0"/>
              <a:t>).</a:t>
            </a:r>
          </a:p>
          <a:p>
            <a:r>
              <a:rPr lang="ru-RU" sz="2000" b="1" dirty="0"/>
              <a:t>Принцип:</a:t>
            </a:r>
            <a:r>
              <a:rPr lang="ru-RU" sz="2000" dirty="0"/>
              <a:t> Открытый исходный код (</a:t>
            </a:r>
            <a:r>
              <a:rPr lang="ru-RU" sz="2000" dirty="0" err="1"/>
              <a:t>Open</a:t>
            </a:r>
            <a:r>
              <a:rPr lang="ru-RU" sz="2000" dirty="0"/>
              <a:t> </a:t>
            </a:r>
            <a:r>
              <a:rPr lang="ru-RU" sz="2000" dirty="0" err="1"/>
              <a:t>Source</a:t>
            </a:r>
            <a:r>
              <a:rPr lang="ru-RU" sz="2000" dirty="0"/>
              <a:t>), </a:t>
            </a:r>
            <a:endParaRPr lang="ru-RU" sz="2000" dirty="0" smtClean="0"/>
          </a:p>
          <a:p>
            <a:r>
              <a:rPr lang="ru-RU" sz="2000" dirty="0" smtClean="0"/>
              <a:t>свобода </a:t>
            </a:r>
            <a:r>
              <a:rPr lang="ru-RU" sz="2000" dirty="0"/>
              <a:t>модификации и распространения.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Free High-Quality GNU Logo for Creative De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968" y="4798891"/>
            <a:ext cx="32861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649" y="3429001"/>
            <a:ext cx="5256241" cy="2957512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012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50632" y="500062"/>
            <a:ext cx="1124243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</a:rPr>
              <a:t>Дистрибутивы</a:t>
            </a:r>
            <a:r>
              <a:rPr lang="ru-RU" b="1" dirty="0"/>
              <a:t>: Разнообразие для </a:t>
            </a:r>
            <a:r>
              <a:rPr lang="ru-RU" b="1" dirty="0" smtClean="0"/>
              <a:t>всех</a:t>
            </a:r>
            <a:r>
              <a:rPr lang="en-US" b="1" dirty="0" smtClean="0"/>
              <a:t> </a:t>
            </a:r>
            <a:r>
              <a:rPr lang="ru-RU" b="1" dirty="0" smtClean="0"/>
              <a:t>целей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Дистрибутив (</a:t>
            </a:r>
            <a:r>
              <a:rPr lang="ru-RU" b="1" dirty="0" err="1"/>
              <a:t>дистр</a:t>
            </a:r>
            <a:r>
              <a:rPr lang="ru-RU" b="1" dirty="0"/>
              <a:t>)</a:t>
            </a:r>
            <a:r>
              <a:rPr lang="ru-RU" dirty="0"/>
              <a:t> = Ядро </a:t>
            </a:r>
            <a:r>
              <a:rPr lang="ru-RU" dirty="0" err="1"/>
              <a:t>Linux</a:t>
            </a:r>
            <a:r>
              <a:rPr lang="ru-RU" dirty="0"/>
              <a:t> + GNU-утилиты + система управления пакетами + набор софта + графическая оболочка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sz="17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ru-RU" sz="17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Система </a:t>
            </a:r>
            <a:r>
              <a:rPr lang="ru-RU" sz="17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управления пакетами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(также иногда «менеджер пакетов» или «пакетный менеджер</a:t>
            </a:r>
            <a:r>
              <a:rPr lang="ru-RU" sz="17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»)</a:t>
            </a:r>
            <a:r>
              <a:rPr lang="en-US" sz="17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</a:t>
            </a:r>
            <a:r>
              <a:rPr lang="ru-RU" sz="17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— набор программного обеспечения, позволяющего управлять процессом установки, удаления, настройки и обновления различных компонентов программного обеспечения</a:t>
            </a:r>
            <a:endParaRPr lang="ru-RU" sz="17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ru-RU" b="1" dirty="0" smtClean="0"/>
              <a:t>Ранние </a:t>
            </a:r>
            <a:r>
              <a:rPr lang="ru-RU" b="1" dirty="0"/>
              <a:t>ключевые дистрибутивы:</a:t>
            </a:r>
            <a:endParaRPr lang="ru-RU" dirty="0"/>
          </a:p>
          <a:p>
            <a:pPr lvl="1"/>
            <a:r>
              <a:rPr lang="ru-RU" b="1" dirty="0" err="1"/>
              <a:t>Slackware</a:t>
            </a:r>
            <a:r>
              <a:rPr lang="ru-RU" b="1" dirty="0"/>
              <a:t> (1993):</a:t>
            </a:r>
            <a:r>
              <a:rPr lang="ru-RU" dirty="0"/>
              <a:t> Один из старейших, философия простоты и UNIX-подобия.</a:t>
            </a:r>
          </a:p>
          <a:p>
            <a:pPr lvl="1"/>
            <a:r>
              <a:rPr lang="ru-RU" b="1" dirty="0" err="1"/>
              <a:t>Debian</a:t>
            </a:r>
            <a:r>
              <a:rPr lang="ru-RU" b="1" dirty="0"/>
              <a:t> (1993):</a:t>
            </a:r>
            <a:r>
              <a:rPr lang="ru-RU" dirty="0"/>
              <a:t> </a:t>
            </a:r>
            <a:r>
              <a:rPr lang="ru-RU" dirty="0" err="1"/>
              <a:t>Дистр</a:t>
            </a:r>
            <a:r>
              <a:rPr lang="ru-RU" dirty="0"/>
              <a:t>, основанный на строгих принципах свободного ПО. Стал основой для множества других.</a:t>
            </a:r>
          </a:p>
          <a:p>
            <a:pPr lvl="1"/>
            <a:r>
              <a:rPr lang="ru-RU" b="1" dirty="0" err="1"/>
              <a:t>Red</a:t>
            </a:r>
            <a:r>
              <a:rPr lang="ru-RU" b="1" dirty="0"/>
              <a:t> </a:t>
            </a:r>
            <a:r>
              <a:rPr lang="ru-RU" b="1" dirty="0" err="1"/>
              <a:t>Hat</a:t>
            </a:r>
            <a:r>
              <a:rPr lang="ru-RU" b="1" dirty="0"/>
              <a:t> (1994):</a:t>
            </a:r>
            <a:r>
              <a:rPr lang="ru-RU" dirty="0"/>
              <a:t> Коммерческий </a:t>
            </a:r>
            <a:r>
              <a:rPr lang="ru-RU" dirty="0" err="1"/>
              <a:t>дистр</a:t>
            </a:r>
            <a:r>
              <a:rPr lang="ru-RU" dirty="0"/>
              <a:t> с поддержкой, предок </a:t>
            </a:r>
            <a:r>
              <a:rPr lang="ru-RU" dirty="0" err="1"/>
              <a:t>Fedora</a:t>
            </a:r>
            <a:r>
              <a:rPr lang="ru-RU" dirty="0"/>
              <a:t>, RHEL, </a:t>
            </a:r>
            <a:r>
              <a:rPr lang="ru-RU" dirty="0" err="1"/>
              <a:t>CentOS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18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3754" y="396142"/>
            <a:ext cx="10515600" cy="1325563"/>
          </a:xfrm>
        </p:spPr>
        <p:txBody>
          <a:bodyPr/>
          <a:lstStyle/>
          <a:p>
            <a:r>
              <a:rPr lang="ru-RU" dirty="0"/>
              <a:t>Дерево эволюции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основных </a:t>
            </a:r>
            <a:r>
              <a:rPr lang="ru-RU" dirty="0"/>
              <a:t>дистрибутивов </a:t>
            </a:r>
            <a:r>
              <a:rPr lang="ru-RU" dirty="0" err="1">
                <a:solidFill>
                  <a:schemeClr val="accent2"/>
                </a:solidFill>
              </a:rPr>
              <a:t>Linux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092462" cy="4351338"/>
          </a:xfrm>
        </p:spPr>
        <p:txBody>
          <a:bodyPr/>
          <a:lstStyle/>
          <a:p>
            <a:r>
              <a:rPr lang="ru-RU" b="1" dirty="0"/>
              <a:t>Дерево эволюции основных дистрибутивов </a:t>
            </a:r>
            <a:r>
              <a:rPr lang="ru-RU" b="1" dirty="0" err="1">
                <a:solidFill>
                  <a:schemeClr val="accent2"/>
                </a:solidFill>
              </a:rPr>
              <a:t>Linux</a:t>
            </a:r>
            <a:r>
              <a:rPr lang="ru-RU" dirty="0"/>
              <a:t> — это граф, который показывает отношения между разными версиями операционной системы </a:t>
            </a:r>
            <a:r>
              <a:rPr lang="ru-RU" dirty="0" err="1">
                <a:solidFill>
                  <a:schemeClr val="accent2"/>
                </a:solidFill>
              </a:rPr>
              <a:t>Linux</a:t>
            </a:r>
            <a:r>
              <a:rPr lang="ru-RU" dirty="0"/>
              <a:t> на основе исходного кода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Такое дерево может включать дистрибутивы, созданные с нуля, и системы, основанные на других проектах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898" y="233241"/>
            <a:ext cx="32385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959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Выход в мир (2000-е - </a:t>
            </a:r>
            <a:r>
              <a:rPr lang="ru-RU" b="1" dirty="0" err="1"/>
              <a:t>н.в</a:t>
            </a:r>
            <a:r>
              <a:rPr lang="ru-RU" b="1" dirty="0"/>
              <a:t>.)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Выход в мир (2000-е - </a:t>
            </a:r>
            <a:r>
              <a:rPr lang="ru-RU" b="1" dirty="0" err="1"/>
              <a:t>н.в</a:t>
            </a:r>
            <a:r>
              <a:rPr lang="ru-RU" b="1" dirty="0"/>
              <a:t>.)</a:t>
            </a:r>
            <a:endParaRPr lang="ru-RU" dirty="0"/>
          </a:p>
          <a:p>
            <a:r>
              <a:rPr lang="ru-RU" b="1" dirty="0" err="1"/>
              <a:t>Ubuntu</a:t>
            </a:r>
            <a:r>
              <a:rPr lang="ru-RU" b="1" dirty="0"/>
              <a:t> (2004):</a:t>
            </a:r>
            <a:r>
              <a:rPr lang="ru-RU" dirty="0"/>
              <a:t> Девиз — "</a:t>
            </a:r>
            <a:r>
              <a:rPr lang="ru-RU" dirty="0" err="1">
                <a:solidFill>
                  <a:schemeClr val="accent2"/>
                </a:solidFill>
              </a:rPr>
              <a:t>Linux</a:t>
            </a:r>
            <a:r>
              <a:rPr lang="ru-RU" dirty="0"/>
              <a:t> для </a:t>
            </a:r>
            <a:r>
              <a:rPr lang="ru-RU" dirty="0" smtClean="0"/>
              <a:t>человека". </a:t>
            </a:r>
            <a:r>
              <a:rPr lang="ru-RU" dirty="0"/>
              <a:t>Сделала </a:t>
            </a:r>
            <a:r>
              <a:rPr lang="ru-RU" dirty="0" err="1">
                <a:solidFill>
                  <a:schemeClr val="accent2"/>
                </a:solidFill>
              </a:rPr>
              <a:t>Linux</a:t>
            </a:r>
            <a:r>
              <a:rPr lang="ru-RU" dirty="0"/>
              <a:t> доступной для обычного пользователя. Основана на </a:t>
            </a:r>
            <a:r>
              <a:rPr lang="ru-RU" dirty="0" err="1"/>
              <a:t>Debian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US" sz="1400" b="1" dirty="0" smtClean="0"/>
              <a:t>						</a:t>
            </a:r>
            <a:r>
              <a:rPr lang="ru-RU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Debian</a:t>
            </a:r>
            <a:r>
              <a:rPr lang="ru-R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— операционная система, состоящая из свободного ПО 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				</a:t>
            </a:r>
            <a:r>
              <a:rPr lang="ru-RU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с </a:t>
            </a:r>
            <a:r>
              <a:rPr lang="ru-RU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открытым исходным кодом. Основана на GNU/</a:t>
            </a:r>
            <a:r>
              <a:rPr lang="ru-RU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Linux</a:t>
            </a:r>
            <a:r>
              <a:rPr lang="ru-RU" sz="1400" dirty="0"/>
              <a:t>.</a:t>
            </a:r>
          </a:p>
          <a:p>
            <a:r>
              <a:rPr lang="ru-RU" b="1" dirty="0"/>
              <a:t>Роль в индустрии:</a:t>
            </a:r>
            <a:endParaRPr lang="ru-RU" dirty="0"/>
          </a:p>
          <a:p>
            <a:pPr lvl="1"/>
            <a:r>
              <a:rPr lang="ru-RU" b="1" dirty="0"/>
              <a:t>Серверы и суперкомпьютеры:</a:t>
            </a:r>
            <a:r>
              <a:rPr lang="ru-RU" dirty="0"/>
              <a:t> Абсолютное доминирование (&gt;90%).</a:t>
            </a:r>
          </a:p>
          <a:p>
            <a:pPr lvl="1"/>
            <a:r>
              <a:rPr lang="ru-RU" b="1" dirty="0" err="1"/>
              <a:t>Android</a:t>
            </a:r>
            <a:r>
              <a:rPr lang="ru-RU" b="1" dirty="0"/>
              <a:t>:</a:t>
            </a:r>
            <a:r>
              <a:rPr lang="ru-RU" dirty="0"/>
              <a:t> Самая популярная ОС для смартфонов на ядре </a:t>
            </a:r>
            <a:r>
              <a:rPr lang="ru-RU" dirty="0" err="1"/>
              <a:t>Linux</a:t>
            </a:r>
            <a:r>
              <a:rPr lang="ru-RU" dirty="0"/>
              <a:t>.</a:t>
            </a:r>
          </a:p>
          <a:p>
            <a:pPr lvl="1"/>
            <a:r>
              <a:rPr lang="ru-RU" b="1" dirty="0"/>
              <a:t>Встраиваемые системы (</a:t>
            </a:r>
            <a:r>
              <a:rPr lang="ru-RU" b="1" dirty="0" err="1"/>
              <a:t>IoT</a:t>
            </a:r>
            <a:r>
              <a:rPr lang="ru-RU" b="1" dirty="0"/>
              <a:t>, роутеры, телевизоры</a:t>
            </a:r>
            <a:r>
              <a:rPr lang="ru-RU" b="1" dirty="0" smtClean="0"/>
              <a:t>).</a:t>
            </a:r>
          </a:p>
          <a:p>
            <a:pPr marL="914400" lvl="2" indent="0">
              <a:buNone/>
            </a:pPr>
            <a:endParaRPr lang="ru-RU" b="1" dirty="0" smtClean="0">
              <a:solidFill>
                <a:schemeClr val="accent2"/>
              </a:solidFill>
            </a:endParaRPr>
          </a:p>
          <a:p>
            <a:pPr marL="914400" lvl="2" indent="0">
              <a:buNone/>
            </a:pPr>
            <a:r>
              <a:rPr lang="ru-RU" b="1" dirty="0" smtClean="0">
                <a:solidFill>
                  <a:schemeClr val="accent2"/>
                </a:solidFill>
              </a:rPr>
              <a:t>Ключевые </a:t>
            </a:r>
            <a:r>
              <a:rPr lang="ru-RU" b="1" dirty="0">
                <a:solidFill>
                  <a:schemeClr val="accent2"/>
                </a:solidFill>
              </a:rPr>
              <a:t>принципы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Свобода, открытость, безопасность, стабильность, сообщество.</a:t>
            </a:r>
          </a:p>
          <a:p>
            <a:pPr lvl="1"/>
            <a:endParaRPr lang="ru-RU" dirty="0"/>
          </a:p>
        </p:txBody>
      </p:sp>
      <p:pic>
        <p:nvPicPr>
          <p:cNvPr id="4098" name="Picture 2" descr="https://avatars.mds.yandex.net/get-entity_search/5504037/551817872/S600x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37" y="365125"/>
            <a:ext cx="1399177" cy="166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767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Сравнительная </a:t>
            </a:r>
            <a:r>
              <a:rPr lang="ru-RU" b="1" dirty="0" smtClean="0"/>
              <a:t>таблица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</a:rPr>
              <a:t>ОС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735270"/>
              </p:ext>
            </p:extLst>
          </p:nvPr>
        </p:nvGraphicFramePr>
        <p:xfrm>
          <a:off x="2333565" y="1809254"/>
          <a:ext cx="7524869" cy="4384080"/>
        </p:xfrm>
        <a:graphic>
          <a:graphicData uri="http://schemas.openxmlformats.org/drawingml/2006/table">
            <a:tbl>
              <a:tblPr/>
              <a:tblGrid>
                <a:gridCol w="1608137">
                  <a:extLst>
                    <a:ext uri="{9D8B030D-6E8A-4147-A177-3AD203B41FA5}">
                      <a16:colId xmlns:a16="http://schemas.microsoft.com/office/drawing/2014/main" val="1026581555"/>
                    </a:ext>
                  </a:extLst>
                </a:gridCol>
                <a:gridCol w="1972244">
                  <a:extLst>
                    <a:ext uri="{9D8B030D-6E8A-4147-A177-3AD203B41FA5}">
                      <a16:colId xmlns:a16="http://schemas.microsoft.com/office/drawing/2014/main" val="1086828281"/>
                    </a:ext>
                  </a:extLst>
                </a:gridCol>
                <a:gridCol w="1972244">
                  <a:extLst>
                    <a:ext uri="{9D8B030D-6E8A-4147-A177-3AD203B41FA5}">
                      <a16:colId xmlns:a16="http://schemas.microsoft.com/office/drawing/2014/main" val="3576843991"/>
                    </a:ext>
                  </a:extLst>
                </a:gridCol>
                <a:gridCol w="1972244">
                  <a:extLst>
                    <a:ext uri="{9D8B030D-6E8A-4147-A177-3AD203B41FA5}">
                      <a16:colId xmlns:a16="http://schemas.microsoft.com/office/drawing/2014/main" val="1312490263"/>
                    </a:ext>
                  </a:extLst>
                </a:gridCol>
              </a:tblGrid>
              <a:tr h="332621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quote-cjk-patch"/>
                        </a:rPr>
                        <a:t>Windows</a:t>
                      </a:r>
                      <a:endParaRPr lang="en-US" sz="1300" b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 err="1">
                          <a:effectLst/>
                          <a:latin typeface="quote-cjk-patch"/>
                        </a:rPr>
                        <a:t>mac</a:t>
                      </a:r>
                      <a:r>
                        <a:rPr lang="en-US" sz="1300" b="1" dirty="0" err="1">
                          <a:solidFill>
                            <a:schemeClr val="accent1"/>
                          </a:solidFill>
                          <a:effectLst/>
                          <a:latin typeface="quote-cjk-patch"/>
                        </a:rPr>
                        <a:t>OS</a:t>
                      </a:r>
                      <a:endParaRPr lang="en-US" sz="1300" b="0" dirty="0">
                        <a:solidFill>
                          <a:schemeClr val="accent1"/>
                        </a:solidFill>
                        <a:effectLst/>
                        <a:latin typeface="quote-cjk-patch"/>
                      </a:endParaRP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chemeClr val="accent2"/>
                          </a:solidFill>
                          <a:effectLst/>
                          <a:latin typeface="quote-cjk-patch"/>
                        </a:rPr>
                        <a:t>Linux</a:t>
                      </a:r>
                      <a:endParaRPr lang="en-US" sz="1300" b="0" dirty="0">
                        <a:solidFill>
                          <a:schemeClr val="accent2"/>
                        </a:solidFill>
                        <a:effectLst/>
                        <a:latin typeface="quote-cjk-patch"/>
                      </a:endParaRP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06770"/>
                  </a:ext>
                </a:extLst>
              </a:tr>
              <a:tr h="921524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quote-cjk-patch"/>
                        </a:rPr>
                        <a:t>Философия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Максимальный охват рынка, совместимость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Интеграция "железа" и софта, пользовательский опыт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Свобода, открытость, контроль</a:t>
                      </a:r>
                    </a:p>
                  </a:txBody>
                  <a:tcPr marL="109056" marR="65434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93691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ru-RU" sz="1300" b="1" dirty="0">
                          <a:effectLst/>
                          <a:latin typeface="quote-cjk-patch"/>
                        </a:rPr>
                        <a:t>Лицензия</a:t>
                      </a:r>
                      <a:endParaRPr lang="ru-RU" sz="1300" b="0" dirty="0">
                        <a:effectLst/>
                        <a:latin typeface="quote-cjk-patch"/>
                      </a:endParaRP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 err="1">
                          <a:effectLst/>
                          <a:latin typeface="quote-cjk-patch"/>
                        </a:rPr>
                        <a:t>Проприетарная</a:t>
                      </a:r>
                      <a:r>
                        <a:rPr lang="ru-RU" sz="1300" b="0" dirty="0">
                          <a:effectLst/>
                          <a:latin typeface="quote-cjk-patch"/>
                        </a:rPr>
                        <a:t>, коммерческая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 err="1">
                          <a:effectLst/>
                          <a:latin typeface="quote-cjk-patch"/>
                        </a:rPr>
                        <a:t>Проприетарная</a:t>
                      </a:r>
                      <a:r>
                        <a:rPr lang="ru-RU" sz="1300" b="0" dirty="0">
                          <a:effectLst/>
                          <a:latin typeface="quote-cjk-patch"/>
                        </a:rPr>
                        <a:t>, коммерческая (только для </a:t>
                      </a:r>
                      <a:r>
                        <a:rPr lang="ru-RU" sz="1300" b="0" dirty="0" err="1">
                          <a:effectLst/>
                          <a:latin typeface="quote-cjk-patch"/>
                        </a:rPr>
                        <a:t>Apple</a:t>
                      </a:r>
                      <a:r>
                        <a:rPr lang="ru-RU" sz="1300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Открытая (GPL и др.), бесплатная</a:t>
                      </a:r>
                    </a:p>
                  </a:txBody>
                  <a:tcPr marL="109056" marR="65434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402503"/>
                  </a:ext>
                </a:extLst>
              </a:tr>
              <a:tr h="921524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quote-cjk-patch"/>
                        </a:rPr>
                        <a:t>Экосистема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Огромная партнерская, разнообразное "железо"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Закрытая, вертикально интегрированная (только Apple)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Крайне фрагментированная, множество дистрибутивов</a:t>
                      </a:r>
                    </a:p>
                  </a:txBody>
                  <a:tcPr marL="109056" marR="65434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811388"/>
                  </a:ext>
                </a:extLst>
              </a:tr>
              <a:tr h="921524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quote-cjk-patch"/>
                        </a:rPr>
                        <a:t>Главная сфера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Домашние/офисные ПК, корпоративные десктопы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Креативные профессии, разработка, премиум-сегмент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Серверы, суперкомпьютеры, встраиваемые системы, облака</a:t>
                      </a:r>
                    </a:p>
                  </a:txBody>
                  <a:tcPr marL="109056" marR="65434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497900"/>
                  </a:ext>
                </a:extLst>
              </a:tr>
              <a:tr h="528922">
                <a:tc>
                  <a:txBody>
                    <a:bodyPr/>
                    <a:lstStyle/>
                    <a:p>
                      <a:r>
                        <a:rPr lang="ru-RU" sz="1300" b="1">
                          <a:effectLst/>
                          <a:latin typeface="quote-cjk-patch"/>
                        </a:rPr>
                        <a:t>Гибкость</a:t>
                      </a:r>
                      <a:endParaRPr lang="ru-RU" sz="1300" b="0">
                        <a:effectLst/>
                        <a:latin typeface="quote-cjk-patch"/>
                      </a:endParaRPr>
                    </a:p>
                  </a:txBody>
                  <a:tcPr marL="65434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Средняя (настройки есть, но ядро закрыто)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>
                          <a:effectLst/>
                          <a:latin typeface="quote-cjk-patch"/>
                        </a:rPr>
                        <a:t>Низкая (контроль </a:t>
                      </a:r>
                      <a:r>
                        <a:rPr lang="en-US" sz="1300" b="0">
                          <a:effectLst/>
                          <a:latin typeface="quote-cjk-patch"/>
                        </a:rPr>
                        <a:t>Apple)</a:t>
                      </a:r>
                    </a:p>
                  </a:txBody>
                  <a:tcPr marL="109056" marR="109056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0" dirty="0">
                          <a:effectLst/>
                          <a:latin typeface="quote-cjk-patch"/>
                        </a:rPr>
                        <a:t>Максимальная (можно собрать свою ОС)</a:t>
                      </a:r>
                    </a:p>
                  </a:txBody>
                  <a:tcPr marL="109056" marR="65434" marT="68160" marB="68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049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971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4962" y="1159791"/>
            <a:ext cx="11699630" cy="5143498"/>
          </a:xfrm>
        </p:spPr>
        <p:txBody>
          <a:bodyPr>
            <a:normAutofit fontScale="70000" lnSpcReduction="20000"/>
          </a:bodyPr>
          <a:lstStyle/>
          <a:p>
            <a:r>
              <a:rPr lang="ru-RU" sz="4600" b="1" dirty="0" err="1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ru-RU" sz="4600" dirty="0"/>
              <a:t> доказала, что унификация и массовость — путь к глобальному успеху.</a:t>
            </a:r>
          </a:p>
          <a:p>
            <a:r>
              <a:rPr lang="ru-RU" sz="4600" b="1" dirty="0" err="1"/>
              <a:t>mac</a:t>
            </a:r>
            <a:r>
              <a:rPr lang="ru-RU" sz="4600" b="1" dirty="0" err="1">
                <a:solidFill>
                  <a:schemeClr val="accent1"/>
                </a:solidFill>
              </a:rPr>
              <a:t>OS</a:t>
            </a:r>
            <a:r>
              <a:rPr lang="ru-RU" sz="4600" dirty="0"/>
              <a:t> показала, что безупречная интеграция и дизайн создают лояльность и премиальный опыт.</a:t>
            </a:r>
          </a:p>
          <a:p>
            <a:r>
              <a:rPr lang="ru-RU" sz="4600" b="1" dirty="0" err="1">
                <a:solidFill>
                  <a:schemeClr val="accent2"/>
                </a:solidFill>
              </a:rPr>
              <a:t>Linux</a:t>
            </a:r>
            <a:r>
              <a:rPr lang="ru-RU" sz="4600" dirty="0"/>
              <a:t> доказал, что открытость и сообщество могут создать технологический хребет цифровой цивилизации.</a:t>
            </a:r>
          </a:p>
          <a:p>
            <a:r>
              <a:rPr lang="ru-RU" sz="4600" b="1" dirty="0"/>
              <a:t>Конвергенция:</a:t>
            </a:r>
            <a:r>
              <a:rPr lang="ru-RU" sz="4600" dirty="0"/>
              <a:t> Сегодня эти миры сближаются (подсистема </a:t>
            </a:r>
            <a:r>
              <a:rPr lang="ru-RU" sz="4600" dirty="0" err="1">
                <a:solidFill>
                  <a:schemeClr val="accent2"/>
                </a:solidFill>
              </a:rPr>
              <a:t>Linux</a:t>
            </a:r>
            <a:r>
              <a:rPr lang="ru-RU" sz="4600" dirty="0"/>
              <a:t> в </a:t>
            </a:r>
            <a:r>
              <a:rPr lang="ru-RU" sz="4600" dirty="0" err="1">
                <a:solidFill>
                  <a:schemeClr val="accent1">
                    <a:lumMod val="50000"/>
                  </a:schemeClr>
                </a:solidFill>
              </a:rPr>
              <a:t>Windows</a:t>
            </a:r>
            <a:r>
              <a:rPr lang="ru-RU" sz="4600" dirty="0"/>
              <a:t>, UNIX-основа </a:t>
            </a:r>
            <a:r>
              <a:rPr lang="ru-RU" sz="4600" dirty="0" err="1"/>
              <a:t>mac</a:t>
            </a:r>
            <a:r>
              <a:rPr lang="ru-RU" sz="4600" dirty="0" err="1">
                <a:solidFill>
                  <a:schemeClr val="accent1"/>
                </a:solidFill>
              </a:rPr>
              <a:t>OS</a:t>
            </a:r>
            <a:r>
              <a:rPr lang="ru-RU" sz="4600" dirty="0"/>
              <a:t>, графические оболочки в </a:t>
            </a:r>
            <a:r>
              <a:rPr lang="ru-RU" sz="4600" dirty="0" err="1">
                <a:solidFill>
                  <a:schemeClr val="accent2"/>
                </a:solidFill>
              </a:rPr>
              <a:t>Linux</a:t>
            </a:r>
            <a:r>
              <a:rPr lang="ru-RU" sz="4600" dirty="0"/>
              <a:t>).</a:t>
            </a:r>
          </a:p>
          <a:p>
            <a:r>
              <a:rPr lang="ru-RU" sz="4600" b="1" dirty="0"/>
              <a:t>Финальный тезис:</a:t>
            </a:r>
            <a:r>
              <a:rPr lang="ru-RU" sz="4600" dirty="0"/>
              <a:t> История этих </a:t>
            </a:r>
            <a:r>
              <a:rPr lang="ru-RU" sz="4600" dirty="0">
                <a:solidFill>
                  <a:schemeClr val="accent1">
                    <a:lumMod val="50000"/>
                  </a:schemeClr>
                </a:solidFill>
              </a:rPr>
              <a:t>ОС</a:t>
            </a:r>
            <a:r>
              <a:rPr lang="ru-RU" sz="4600" dirty="0"/>
              <a:t> — это не просто история технологий, это история разных видений того, как человек должен взаимодействовать с компьютером.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793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8763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274</Words>
  <Application>Microsoft Office PowerPoint</Application>
  <PresentationFormat>Широкоэкранный</PresentationFormat>
  <Paragraphs>100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quote-cjk-patch</vt:lpstr>
      <vt:lpstr>Тема Office</vt:lpstr>
      <vt:lpstr>История операционных систем  Эволюция Windows, macOS и Linux</vt:lpstr>
      <vt:lpstr>Три столпа современной цифровой эры</vt:lpstr>
      <vt:lpstr>Microsoft Windows: Путь к глобальному доминированию </vt:lpstr>
      <vt:lpstr>Революция для масс (1990-2000)</vt:lpstr>
      <vt:lpstr>Эпоха модерна и универсальности (2012 - н.в.)</vt:lpstr>
      <vt:lpstr>Эволюция меню пуск</vt:lpstr>
      <vt:lpstr>Apple macOS (Mac OS X): Элегантность и экосистема </vt:lpstr>
      <vt:lpstr>Рождение современной macOS (2001)</vt:lpstr>
      <vt:lpstr> Новая эра на собственных чипах (2020 -н.в.)</vt:lpstr>
      <vt:lpstr>Linux: Сила сообщества и открытого кода</vt:lpstr>
      <vt:lpstr>Дистрибутивы: Разнообразие для всех целей</vt:lpstr>
      <vt:lpstr>Дерево эволюции  основных дистрибутивов Linux</vt:lpstr>
      <vt:lpstr>Выход в мир (2000-е - н.в.)</vt:lpstr>
      <vt:lpstr>Сравнительная таблица ОС</vt:lpstr>
      <vt:lpstr>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операционных систем Эволюция Windows, macOS и Linux</dc:title>
  <dc:creator>Михаил</dc:creator>
  <cp:lastModifiedBy>Михаил</cp:lastModifiedBy>
  <cp:revision>11</cp:revision>
  <dcterms:created xsi:type="dcterms:W3CDTF">2026-01-22T15:09:30Z</dcterms:created>
  <dcterms:modified xsi:type="dcterms:W3CDTF">2026-01-22T17:29:10Z</dcterms:modified>
</cp:coreProperties>
</file>